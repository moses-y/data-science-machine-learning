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9" r:id="rId7"/>
    <p:sldId id="281" r:id="rId8"/>
    <p:sldId id="261" r:id="rId9"/>
    <p:sldId id="280" r:id="rId10"/>
    <p:sldId id="262" r:id="rId11"/>
    <p:sldId id="271" r:id="rId12"/>
    <p:sldId id="272" r:id="rId13"/>
    <p:sldId id="263" r:id="rId14"/>
    <p:sldId id="265" r:id="rId15"/>
    <p:sldId id="282" r:id="rId16"/>
    <p:sldId id="274" r:id="rId17"/>
    <p:sldId id="266" r:id="rId18"/>
    <p:sldId id="267" r:id="rId19"/>
    <p:sldId id="277" r:id="rId20"/>
    <p:sldId id="278" r:id="rId21"/>
    <p:sldId id="270" r:id="rId22"/>
  </p:sldIdLst>
  <p:sldSz cx="18288000" cy="10287000"/>
  <p:notesSz cx="6858000" cy="9144000"/>
  <p:embeddedFontLst>
    <p:embeddedFont>
      <p:font typeface="Helvetica World" panose="020B0604020202020204" charset="-128"/>
      <p:regular r:id="rId23"/>
    </p:embeddedFont>
    <p:embeddedFont>
      <p:font typeface="Poppins" panose="00000500000000000000" pitchFamily="2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2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3.sv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3.sv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23740" y="1472267"/>
            <a:ext cx="9913688" cy="9913688"/>
          </a:xfrm>
          <a:custGeom>
            <a:avLst/>
            <a:gdLst/>
            <a:ahLst/>
            <a:cxnLst/>
            <a:rect l="l" t="t" r="r" b="b"/>
            <a:pathLst>
              <a:path w="9913688" h="9913688">
                <a:moveTo>
                  <a:pt x="0" y="0"/>
                </a:moveTo>
                <a:lnTo>
                  <a:pt x="9913688" y="0"/>
                </a:lnTo>
                <a:lnTo>
                  <a:pt x="9913688" y="9913687"/>
                </a:lnTo>
                <a:lnTo>
                  <a:pt x="0" y="9913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70823" y="513381"/>
            <a:ext cx="8744919" cy="8744919"/>
          </a:xfrm>
          <a:custGeom>
            <a:avLst/>
            <a:gdLst/>
            <a:ahLst/>
            <a:cxnLst/>
            <a:rect l="l" t="t" r="r" b="b"/>
            <a:pathLst>
              <a:path w="8744919" h="8744919">
                <a:moveTo>
                  <a:pt x="0" y="0"/>
                </a:moveTo>
                <a:lnTo>
                  <a:pt x="8744919" y="0"/>
                </a:lnTo>
                <a:lnTo>
                  <a:pt x="8744919" y="8744919"/>
                </a:lnTo>
                <a:lnTo>
                  <a:pt x="0" y="8744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1824866" y="2116177"/>
            <a:ext cx="14782800" cy="4116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9184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E-COMMERCE ANALYTICS: FROM DATA CLEANING TO CHURN MODELING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00200" y="7246127"/>
            <a:ext cx="15087600" cy="499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48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Comprehensive Data Science Project at </a:t>
            </a:r>
            <a:r>
              <a:rPr lang="en-US" sz="4800" dirty="0" err="1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Qatalyst</a:t>
            </a:r>
            <a:endParaRPr lang="en-US" sz="48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554248" y="1519892"/>
            <a:ext cx="9179504" cy="297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60"/>
              </a:lnSpc>
            </a:pPr>
            <a:r>
              <a:rPr lang="en-US" sz="2400" spc="-11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Presented by Moses Yebei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72735" y="1067309"/>
            <a:ext cx="10552866" cy="1409191"/>
            <a:chOff x="0" y="0"/>
            <a:chExt cx="2790081" cy="10164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320797" y="5482866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52600" y="2963701"/>
            <a:ext cx="14682997" cy="5699795"/>
            <a:chOff x="0" y="0"/>
            <a:chExt cx="2790081" cy="778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4639569" y="-2491296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22989" y="5414843"/>
            <a:ext cx="6553869" cy="5576747"/>
          </a:xfrm>
          <a:custGeom>
            <a:avLst/>
            <a:gdLst/>
            <a:ahLst/>
            <a:cxnLst/>
            <a:rect l="l" t="t" r="r" b="b"/>
            <a:pathLst>
              <a:path w="6553869" h="5576747">
                <a:moveTo>
                  <a:pt x="0" y="0"/>
                </a:moveTo>
                <a:lnTo>
                  <a:pt x="6553869" y="0"/>
                </a:lnTo>
                <a:lnTo>
                  <a:pt x="6553869" y="5576747"/>
                </a:lnTo>
                <a:lnTo>
                  <a:pt x="0" y="5576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699234" y="68875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191000" y="1123871"/>
            <a:ext cx="9585350" cy="131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8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Project Overview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45698" y="4206205"/>
            <a:ext cx="12496800" cy="2593274"/>
          </a:xfrm>
          <a:custGeom>
            <a:avLst/>
            <a:gdLst>
              <a:gd name="connsiteX0" fmla="*/ 0 w 14583194"/>
              <a:gd name="connsiteY0" fmla="*/ 0 h 1285224"/>
              <a:gd name="connsiteX1" fmla="*/ 14583194 w 14583194"/>
              <a:gd name="connsiteY1" fmla="*/ 0 h 1285224"/>
              <a:gd name="connsiteX2" fmla="*/ 14583194 w 14583194"/>
              <a:gd name="connsiteY2" fmla="*/ 1285224 h 1285224"/>
              <a:gd name="connsiteX3" fmla="*/ 0 w 14583194"/>
              <a:gd name="connsiteY3" fmla="*/ 1285224 h 1285224"/>
              <a:gd name="connsiteX4" fmla="*/ 0 w 14583194"/>
              <a:gd name="connsiteY4" fmla="*/ 0 h 1285224"/>
              <a:gd name="connsiteX0" fmla="*/ 0 w 14583194"/>
              <a:gd name="connsiteY0" fmla="*/ 3012813 h 4298037"/>
              <a:gd name="connsiteX1" fmla="*/ 14557370 w 14583194"/>
              <a:gd name="connsiteY1" fmla="*/ 0 h 4298037"/>
              <a:gd name="connsiteX2" fmla="*/ 14583194 w 14583194"/>
              <a:gd name="connsiteY2" fmla="*/ 3012813 h 4298037"/>
              <a:gd name="connsiteX3" fmla="*/ 14583194 w 14583194"/>
              <a:gd name="connsiteY3" fmla="*/ 4298037 h 4298037"/>
              <a:gd name="connsiteX4" fmla="*/ 0 w 14583194"/>
              <a:gd name="connsiteY4" fmla="*/ 4298037 h 4298037"/>
              <a:gd name="connsiteX5" fmla="*/ 0 w 14583194"/>
              <a:gd name="connsiteY5" fmla="*/ 3012813 h 4298037"/>
              <a:gd name="connsiteX0" fmla="*/ 12356 w 14583194"/>
              <a:gd name="connsiteY0" fmla="*/ 0 h 4349700"/>
              <a:gd name="connsiteX1" fmla="*/ 14557370 w 14583194"/>
              <a:gd name="connsiteY1" fmla="*/ 51663 h 4349700"/>
              <a:gd name="connsiteX2" fmla="*/ 14583194 w 14583194"/>
              <a:gd name="connsiteY2" fmla="*/ 3064476 h 4349700"/>
              <a:gd name="connsiteX3" fmla="*/ 14583194 w 14583194"/>
              <a:gd name="connsiteY3" fmla="*/ 4349700 h 4349700"/>
              <a:gd name="connsiteX4" fmla="*/ 0 w 14583194"/>
              <a:gd name="connsiteY4" fmla="*/ 4349700 h 4349700"/>
              <a:gd name="connsiteX5" fmla="*/ 12356 w 14583194"/>
              <a:gd name="connsiteY5" fmla="*/ 0 h 4349700"/>
              <a:gd name="connsiteX0" fmla="*/ 1190 w 14572028"/>
              <a:gd name="connsiteY0" fmla="*/ 0 h 5659516"/>
              <a:gd name="connsiteX1" fmla="*/ 14546204 w 14572028"/>
              <a:gd name="connsiteY1" fmla="*/ 51663 h 5659516"/>
              <a:gd name="connsiteX2" fmla="*/ 14572028 w 14572028"/>
              <a:gd name="connsiteY2" fmla="*/ 3064476 h 5659516"/>
              <a:gd name="connsiteX3" fmla="*/ 14572028 w 14572028"/>
              <a:gd name="connsiteY3" fmla="*/ 4349700 h 5659516"/>
              <a:gd name="connsiteX4" fmla="*/ 1190 w 14572028"/>
              <a:gd name="connsiteY4" fmla="*/ 5659516 h 5659516"/>
              <a:gd name="connsiteX5" fmla="*/ 1190 w 14572028"/>
              <a:gd name="connsiteY5" fmla="*/ 0 h 5659516"/>
              <a:gd name="connsiteX0" fmla="*/ 1190 w 14572028"/>
              <a:gd name="connsiteY0" fmla="*/ 0 h 5659516"/>
              <a:gd name="connsiteX1" fmla="*/ 14546204 w 14572028"/>
              <a:gd name="connsiteY1" fmla="*/ 51663 h 5659516"/>
              <a:gd name="connsiteX2" fmla="*/ 14572028 w 14572028"/>
              <a:gd name="connsiteY2" fmla="*/ 3064476 h 5659516"/>
              <a:gd name="connsiteX3" fmla="*/ 14510244 w 14572028"/>
              <a:gd name="connsiteY3" fmla="*/ 5548305 h 5659516"/>
              <a:gd name="connsiteX4" fmla="*/ 1190 w 14572028"/>
              <a:gd name="connsiteY4" fmla="*/ 5659516 h 5659516"/>
              <a:gd name="connsiteX5" fmla="*/ 1190 w 14572028"/>
              <a:gd name="connsiteY5" fmla="*/ 0 h 5659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72028" h="5659516">
                <a:moveTo>
                  <a:pt x="1190" y="0"/>
                </a:moveTo>
                <a:lnTo>
                  <a:pt x="14546204" y="51663"/>
                </a:lnTo>
                <a:lnTo>
                  <a:pt x="14572028" y="3064476"/>
                </a:lnTo>
                <a:lnTo>
                  <a:pt x="14510244" y="5548305"/>
                </a:lnTo>
                <a:lnTo>
                  <a:pt x="1190" y="5659516"/>
                </a:lnTo>
                <a:cubicBezTo>
                  <a:pt x="5309" y="4209616"/>
                  <a:pt x="-2929" y="1449900"/>
                  <a:pt x="1190" y="0"/>
                </a:cubicBezTo>
                <a:close/>
              </a:path>
            </a:pathLst>
          </a:cu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analyze ~250k e-commerce transaction records to understand and predict shifts in customer behavior.</a:t>
            </a:r>
          </a:p>
          <a:p>
            <a:pPr algn="ctr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Project “end-to-end” pipeline: 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Data Cleaning &amp; Exploration → Segmentation (RFM &amp; CLTV) → Churn EDA &amp;  Modeling.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74143" y="-41148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324710"/>
            <a:ext cx="16230600" cy="1559457"/>
            <a:chOff x="0" y="0"/>
            <a:chExt cx="2790081" cy="10164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2820091" y="5985737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294709" y="2189410"/>
            <a:ext cx="16459891" cy="7591974"/>
            <a:chOff x="0" y="0"/>
            <a:chExt cx="2790081" cy="7782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2827620" y="1028700"/>
            <a:ext cx="6333399" cy="6333399"/>
          </a:xfrm>
          <a:custGeom>
            <a:avLst/>
            <a:gdLst/>
            <a:ahLst/>
            <a:cxnLst/>
            <a:rect l="l" t="t" r="r" b="b"/>
            <a:pathLst>
              <a:path w="6333399" h="6333399">
                <a:moveTo>
                  <a:pt x="0" y="0"/>
                </a:moveTo>
                <a:lnTo>
                  <a:pt x="6333399" y="0"/>
                </a:lnTo>
                <a:lnTo>
                  <a:pt x="6333399" y="6333399"/>
                </a:lnTo>
                <a:lnTo>
                  <a:pt x="0" y="63333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200400" y="571500"/>
            <a:ext cx="14902428" cy="1312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88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Glossary of Key Terms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4000" y="2341367"/>
            <a:ext cx="15544800" cy="7389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key terminology used throughout the presentation.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EDA (Exploratory Data Analysis)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 process of examining datasets to summarize main characteristics, often using visual methods. Helps discover patterns, detect anomalies, and formulate hypotheses.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RFM (Recency, Frequency, Monetary):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 customer-value model analyzing (a) how recently a customer purchased (Recency), (b) how often (Frequency), and (c) how much money they spend (Monetary value).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CLTV (Customer Lifetime Value):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An estimate of the total revenue a business can expect from a customer over the entire relationship, factoring in purchase frequency, average order value, margins, etc.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Churn: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The rate at which customers stop doing business with an entity. In this context, a churned customer is one who has not returned for new purchases beyond a specified window.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Confusion Matrix: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2×2 or multi-class representation of predicted vs. actual outcomes in classification models, highlighting true positives, false positives, true negatives, and false negatives.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6896" y="-3680904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81001" y="401107"/>
            <a:ext cx="17373599" cy="2075394"/>
            <a:chOff x="0" y="0"/>
            <a:chExt cx="2790081" cy="10164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74225" y="3457287"/>
            <a:ext cx="16040100" cy="5415072"/>
            <a:chOff x="0" y="0"/>
            <a:chExt cx="2790081" cy="778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573501" y="9096148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5196416" y="6303202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400800" y="1905953"/>
            <a:ext cx="7039992" cy="7039992"/>
          </a:xfrm>
          <a:custGeom>
            <a:avLst/>
            <a:gdLst/>
            <a:ahLst/>
            <a:cxnLst/>
            <a:rect l="l" t="t" r="r" b="b"/>
            <a:pathLst>
              <a:path w="7039992" h="7039992">
                <a:moveTo>
                  <a:pt x="0" y="0"/>
                </a:moveTo>
                <a:lnTo>
                  <a:pt x="7039991" y="0"/>
                </a:lnTo>
                <a:lnTo>
                  <a:pt x="7039991" y="7039992"/>
                </a:lnTo>
                <a:lnTo>
                  <a:pt x="0" y="70399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61999" y="662324"/>
            <a:ext cx="16394805" cy="1286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8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Project Motivation &amp; Business Context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57401" y="3681076"/>
            <a:ext cx="14401800" cy="3898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High churn rates (~20%) can erode both short-term revenue and long-term brand loyalty.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RFM-based segmentation combined with CLTV values highlights which customers are “worth” re-engaging aggressively vs. those who need consistent, lower-cost tactics.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Seasonal fluctuations (e.g., spikes in August/December) amplify the importance of timely marketing and personalized promotions.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 5% Reduction in Churn → +25% in Profit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3683857" y="3470099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1066801" y="440050"/>
            <a:ext cx="16535400" cy="1437913"/>
            <a:chOff x="0" y="0"/>
            <a:chExt cx="2790081" cy="10164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617849" y="67352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302650" y="2171401"/>
            <a:ext cx="15994750" cy="6263196"/>
            <a:chOff x="0" y="0"/>
            <a:chExt cx="2790081" cy="778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  <p:txBody>
            <a:bodyPr/>
            <a:lstStyle/>
            <a:p>
              <a:endParaRPr lang="en-KE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4382394" y="61684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2669630" y="1623504"/>
            <a:ext cx="5916762" cy="5916762"/>
          </a:xfrm>
          <a:custGeom>
            <a:avLst/>
            <a:gdLst/>
            <a:ahLst/>
            <a:cxnLst/>
            <a:rect l="l" t="t" r="r" b="b"/>
            <a:pathLst>
              <a:path w="5916762" h="5916762">
                <a:moveTo>
                  <a:pt x="0" y="0"/>
                </a:moveTo>
                <a:lnTo>
                  <a:pt x="5916761" y="0"/>
                </a:lnTo>
                <a:lnTo>
                  <a:pt x="5916761" y="5916762"/>
                </a:lnTo>
                <a:lnTo>
                  <a:pt x="0" y="59167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62101" y="368833"/>
            <a:ext cx="14363699" cy="1261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6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Overview &amp; Preprocessing Steps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5804" y="2340793"/>
            <a:ext cx="12526077" cy="5209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Data Volume: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~250,000 rows, spanning multiple years (2020–2023), with 13–38 columns depending on merges and feature engineering.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Key Fields: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Customer ID, Purchase Date, Quantity, Price, Returns, Gender, Age, Churn. Explain how each field is used (IDs for grouping, Price × Quantity for revenue, etc.).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Initial Cleaning:</a:t>
            </a:r>
          </a:p>
          <a:p>
            <a:pPr marL="342900" indent="-342900">
              <a:lnSpc>
                <a:spcPts val="335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	Recalculated total spending for accuracy.</a:t>
            </a:r>
          </a:p>
          <a:p>
            <a:pPr marL="342900" indent="-342900">
              <a:lnSpc>
                <a:spcPts val="335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	Dropped duplicates (e.g., columns with redundant age info) and 	unnecessary fields.</a:t>
            </a:r>
          </a:p>
          <a:p>
            <a:pPr marL="342900" indent="-342900">
              <a:lnSpc>
                <a:spcPts val="335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	Addressed ~47k missing “Returns” entries by verifying if these data gaps 	skew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CA45F0-9DEA-4239-6A11-14C5CFEB5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7E2F2DF0-E7E7-93AF-FA29-20BBABD25291}"/>
              </a:ext>
            </a:extLst>
          </p:cNvPr>
          <p:cNvSpPr/>
          <p:nvPr/>
        </p:nvSpPr>
        <p:spPr>
          <a:xfrm>
            <a:off x="15040677" y="3425466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09C1B9D-ED1B-A8DD-7B64-DD30C9FFD7B2}"/>
              </a:ext>
            </a:extLst>
          </p:cNvPr>
          <p:cNvGrpSpPr/>
          <p:nvPr/>
        </p:nvGrpSpPr>
        <p:grpSpPr>
          <a:xfrm>
            <a:off x="1066801" y="440050"/>
            <a:ext cx="16535400" cy="1437913"/>
            <a:chOff x="0" y="0"/>
            <a:chExt cx="2790081" cy="101645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9A3376A-7D1E-7449-BC8C-2CE448F1E852}"/>
                </a:ext>
              </a:extLst>
            </p:cNvPr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F960085-F85E-A1B8-7F5D-530308C7CA80}"/>
                </a:ext>
              </a:extLst>
            </p:cNvPr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D6135F8-DB8B-2AC3-9498-31D5B35E12CF}"/>
              </a:ext>
            </a:extLst>
          </p:cNvPr>
          <p:cNvGrpSpPr/>
          <p:nvPr/>
        </p:nvGrpSpPr>
        <p:grpSpPr>
          <a:xfrm>
            <a:off x="1473340" y="2063252"/>
            <a:ext cx="18745201" cy="7423648"/>
            <a:chOff x="-574429" y="-98444"/>
            <a:chExt cx="3364510" cy="92250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104D3C2-1518-D526-3D25-760D5F4BF729}"/>
                </a:ext>
              </a:extLst>
            </p:cNvPr>
            <p:cNvSpPr/>
            <p:nvPr/>
          </p:nvSpPr>
          <p:spPr>
            <a:xfrm>
              <a:off x="-574429" y="-98444"/>
              <a:ext cx="2676082" cy="922502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  <p:txBody>
            <a:bodyPr/>
            <a:lstStyle/>
            <a:p>
              <a:endParaRPr lang="en-KE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1328C88-8549-3638-4035-E69192103ADC}"/>
                </a:ext>
              </a:extLst>
            </p:cNvPr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5B08126D-90E0-38FB-22FB-52BEDA8B20B1}"/>
              </a:ext>
            </a:extLst>
          </p:cNvPr>
          <p:cNvSpPr/>
          <p:nvPr/>
        </p:nvSpPr>
        <p:spPr>
          <a:xfrm>
            <a:off x="8617849" y="67352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AE2F18A-8666-6F2A-4355-A5ED79835B4F}"/>
              </a:ext>
            </a:extLst>
          </p:cNvPr>
          <p:cNvSpPr/>
          <p:nvPr/>
        </p:nvSpPr>
        <p:spPr>
          <a:xfrm>
            <a:off x="16927131" y="8294953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04A4561-7A73-02BA-7B18-92683FF91D0E}"/>
              </a:ext>
            </a:extLst>
          </p:cNvPr>
          <p:cNvSpPr/>
          <p:nvPr/>
        </p:nvSpPr>
        <p:spPr>
          <a:xfrm>
            <a:off x="-4382394" y="61684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EB692C1-1CA8-4C58-4CEE-05C9CE9D2B40}"/>
              </a:ext>
            </a:extLst>
          </p:cNvPr>
          <p:cNvSpPr/>
          <p:nvPr/>
        </p:nvSpPr>
        <p:spPr>
          <a:xfrm>
            <a:off x="-511334" y="2888096"/>
            <a:ext cx="5916762" cy="5916762"/>
          </a:xfrm>
          <a:custGeom>
            <a:avLst/>
            <a:gdLst/>
            <a:ahLst/>
            <a:cxnLst/>
            <a:rect l="l" t="t" r="r" b="b"/>
            <a:pathLst>
              <a:path w="5916762" h="5916762">
                <a:moveTo>
                  <a:pt x="0" y="0"/>
                </a:moveTo>
                <a:lnTo>
                  <a:pt x="5916761" y="0"/>
                </a:lnTo>
                <a:lnTo>
                  <a:pt x="5916761" y="5916762"/>
                </a:lnTo>
                <a:lnTo>
                  <a:pt x="0" y="59167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F655FAE-8FC1-D42C-E744-0ABA5330E135}"/>
              </a:ext>
            </a:extLst>
          </p:cNvPr>
          <p:cNvSpPr txBox="1"/>
          <p:nvPr/>
        </p:nvSpPr>
        <p:spPr>
          <a:xfrm>
            <a:off x="1562101" y="368833"/>
            <a:ext cx="14363699" cy="1261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6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Overview &amp; Preprocessing Steps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E31489E-CA17-13DD-6DF4-F6D571A24C85}"/>
              </a:ext>
            </a:extLst>
          </p:cNvPr>
          <p:cNvSpPr txBox="1"/>
          <p:nvPr/>
        </p:nvSpPr>
        <p:spPr>
          <a:xfrm>
            <a:off x="1605804" y="2340793"/>
            <a:ext cx="13634196" cy="849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Early Observations: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Nearly balanced gender distribution (~124k female vs. ~126k male).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~20% churn rate across various ages.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947E89-6525-FA3A-8DDA-1AA372C13B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522" y="3353366"/>
            <a:ext cx="5715000" cy="52953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B4177E-9F97-E1AE-2F57-7785E70F8D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323" y="3353367"/>
            <a:ext cx="5791199" cy="529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775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EE493-152E-5CB3-9DD2-33E27D180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362E74-0472-CB07-FA9C-2947C0ACB209}"/>
              </a:ext>
            </a:extLst>
          </p:cNvPr>
          <p:cNvSpPr/>
          <p:nvPr/>
        </p:nvSpPr>
        <p:spPr>
          <a:xfrm>
            <a:off x="12757449" y="-2536474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6989CC3-93FA-9118-D4BF-461F947B7611}"/>
              </a:ext>
            </a:extLst>
          </p:cNvPr>
          <p:cNvGrpSpPr/>
          <p:nvPr/>
        </p:nvGrpSpPr>
        <p:grpSpPr>
          <a:xfrm>
            <a:off x="1317425" y="441365"/>
            <a:ext cx="14662547" cy="1300633"/>
            <a:chOff x="0" y="0"/>
            <a:chExt cx="3861741" cy="6723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8954898-7F10-3870-0D6E-BE5CEBC4BF7E}"/>
                </a:ext>
              </a:extLst>
            </p:cNvPr>
            <p:cNvSpPr/>
            <p:nvPr/>
          </p:nvSpPr>
          <p:spPr>
            <a:xfrm>
              <a:off x="0" y="0"/>
              <a:ext cx="3861741" cy="672303"/>
            </a:xfrm>
            <a:custGeom>
              <a:avLst/>
              <a:gdLst/>
              <a:ahLst/>
              <a:cxnLst/>
              <a:rect l="l" t="t" r="r" b="b"/>
              <a:pathLst>
                <a:path w="3861741" h="672303">
                  <a:moveTo>
                    <a:pt x="26928" y="0"/>
                  </a:moveTo>
                  <a:lnTo>
                    <a:pt x="3834812" y="0"/>
                  </a:lnTo>
                  <a:cubicBezTo>
                    <a:pt x="3849684" y="0"/>
                    <a:pt x="3861741" y="12056"/>
                    <a:pt x="3861741" y="26928"/>
                  </a:cubicBezTo>
                  <a:lnTo>
                    <a:pt x="3861741" y="645375"/>
                  </a:lnTo>
                  <a:cubicBezTo>
                    <a:pt x="3861741" y="652517"/>
                    <a:pt x="3858904" y="659366"/>
                    <a:pt x="3853854" y="664416"/>
                  </a:cubicBezTo>
                  <a:cubicBezTo>
                    <a:pt x="3848803" y="669466"/>
                    <a:pt x="3841954" y="672303"/>
                    <a:pt x="3834812" y="672303"/>
                  </a:cubicBezTo>
                  <a:lnTo>
                    <a:pt x="26928" y="672303"/>
                  </a:lnTo>
                  <a:cubicBezTo>
                    <a:pt x="19786" y="672303"/>
                    <a:pt x="12937" y="669466"/>
                    <a:pt x="7887" y="664416"/>
                  </a:cubicBezTo>
                  <a:cubicBezTo>
                    <a:pt x="2837" y="659366"/>
                    <a:pt x="0" y="652517"/>
                    <a:pt x="0" y="645375"/>
                  </a:cubicBezTo>
                  <a:lnTo>
                    <a:pt x="0" y="26928"/>
                  </a:lnTo>
                  <a:cubicBezTo>
                    <a:pt x="0" y="19786"/>
                    <a:pt x="2837" y="12937"/>
                    <a:pt x="7887" y="7887"/>
                  </a:cubicBezTo>
                  <a:cubicBezTo>
                    <a:pt x="12937" y="2837"/>
                    <a:pt x="19786" y="0"/>
                    <a:pt x="269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A2B3A28-0DA7-BBEC-C103-64ABCA5E30AB}"/>
                </a:ext>
              </a:extLst>
            </p:cNvPr>
            <p:cNvSpPr txBox="1"/>
            <p:nvPr/>
          </p:nvSpPr>
          <p:spPr>
            <a:xfrm>
              <a:off x="0" y="-38100"/>
              <a:ext cx="3861741" cy="710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84FF0EA5-624D-4DD4-F2D3-5070F8F16846}"/>
              </a:ext>
            </a:extLst>
          </p:cNvPr>
          <p:cNvSpPr/>
          <p:nvPr/>
        </p:nvSpPr>
        <p:spPr>
          <a:xfrm>
            <a:off x="-1806772" y="-659656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KE" dirty="0"/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1704033-CFD7-F47F-FF80-7B4BE40C7CFD}"/>
              </a:ext>
            </a:extLst>
          </p:cNvPr>
          <p:cNvGrpSpPr/>
          <p:nvPr/>
        </p:nvGrpSpPr>
        <p:grpSpPr>
          <a:xfrm>
            <a:off x="1061126" y="2048267"/>
            <a:ext cx="3891874" cy="4403824"/>
            <a:chOff x="0" y="0"/>
            <a:chExt cx="1256010" cy="115985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C498D01-E3A7-87C6-7101-7B48430A74F1}"/>
                </a:ext>
              </a:extLst>
            </p:cNvPr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E2EA36C-230A-5F99-A4E3-B409595D6202}"/>
                </a:ext>
              </a:extLst>
            </p:cNvPr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A5CF53A2-78F1-1A00-BDAF-1CE077C2B941}"/>
              </a:ext>
            </a:extLst>
          </p:cNvPr>
          <p:cNvSpPr/>
          <p:nvPr/>
        </p:nvSpPr>
        <p:spPr>
          <a:xfrm>
            <a:off x="745071" y="5674152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2" y="0"/>
                </a:lnTo>
                <a:lnTo>
                  <a:pt x="3613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7E6FAD7-F4DF-4232-6ADD-9AEDAF3D636C}"/>
              </a:ext>
            </a:extLst>
          </p:cNvPr>
          <p:cNvSpPr txBox="1"/>
          <p:nvPr/>
        </p:nvSpPr>
        <p:spPr>
          <a:xfrm>
            <a:off x="1335547" y="404733"/>
            <a:ext cx="15097985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9184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Key EDA Insights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3F4D74-C34F-CB63-30F1-E299BCF59C8E}"/>
              </a:ext>
            </a:extLst>
          </p:cNvPr>
          <p:cNvSpPr txBox="1"/>
          <p:nvPr/>
        </p:nvSpPr>
        <p:spPr>
          <a:xfrm>
            <a:off x="1237243" y="2156323"/>
            <a:ext cx="2021050" cy="100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942"/>
              </a:lnSpc>
            </a:pPr>
            <a:r>
              <a:rPr lang="en-US" sz="6788" spc="-95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01.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927308-08EF-C4B3-22F3-698F49214AE8}"/>
              </a:ext>
            </a:extLst>
          </p:cNvPr>
          <p:cNvSpPr txBox="1"/>
          <p:nvPr/>
        </p:nvSpPr>
        <p:spPr>
          <a:xfrm>
            <a:off x="1433982" y="3455144"/>
            <a:ext cx="3214218" cy="2136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Seasonal Trends: </a:t>
            </a: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Notable transaction peaks in August (back-to-school, summer sales) and December (holiday shopping).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B3B502FF-F5F5-F0BD-A589-AA4841E7A23C}"/>
              </a:ext>
            </a:extLst>
          </p:cNvPr>
          <p:cNvSpPr/>
          <p:nvPr/>
        </p:nvSpPr>
        <p:spPr>
          <a:xfrm>
            <a:off x="16872249" y="-561615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13">
            <a:extLst>
              <a:ext uri="{FF2B5EF4-FFF2-40B4-BE49-F238E27FC236}">
                <a16:creationId xmlns:a16="http://schemas.microsoft.com/office/drawing/2014/main" id="{8D6077E9-16BA-3DB9-9E48-1898CEA5E99C}"/>
              </a:ext>
            </a:extLst>
          </p:cNvPr>
          <p:cNvGrpSpPr/>
          <p:nvPr/>
        </p:nvGrpSpPr>
        <p:grpSpPr>
          <a:xfrm>
            <a:off x="1600200" y="9040799"/>
            <a:ext cx="14325599" cy="804836"/>
            <a:chOff x="0" y="0"/>
            <a:chExt cx="1256010" cy="1159855"/>
          </a:xfrm>
        </p:grpSpPr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E59FEC78-4949-CB60-B54B-DF9B50AE48CF}"/>
                </a:ext>
              </a:extLst>
            </p:cNvPr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27" name="TextBox 15">
              <a:extLst>
                <a:ext uri="{FF2B5EF4-FFF2-40B4-BE49-F238E27FC236}">
                  <a16:creationId xmlns:a16="http://schemas.microsoft.com/office/drawing/2014/main" id="{6A8E9C42-9060-11EF-4EA6-02598CD04412}"/>
                </a:ext>
              </a:extLst>
            </p:cNvPr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DD479C0-E02B-2145-B747-9135BABDDADA}"/>
              </a:ext>
            </a:extLst>
          </p:cNvPr>
          <p:cNvSpPr txBox="1"/>
          <p:nvPr/>
        </p:nvSpPr>
        <p:spPr>
          <a:xfrm>
            <a:off x="1936712" y="9142116"/>
            <a:ext cx="137604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Implications</a:t>
            </a:r>
            <a:r>
              <a:rPr lang="en-US" sz="2000" dirty="0"/>
              <a:t>: EDA clarifies where we might focus deeper segmentation: e.g., exploring returns among Clothing sub-categories or reevaluating marketing in Q4 months.</a:t>
            </a:r>
            <a:endParaRPr lang="en-KE" sz="2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BA2B346-7864-7C95-933C-B2835D434E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621" y="2061882"/>
            <a:ext cx="7620000" cy="33337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8E3DFAD-E4AB-6E7C-7510-C1BABE6850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5409247"/>
            <a:ext cx="7620000" cy="333375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F9E3875-B1DE-D35A-FA77-AEDEAEDCCC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4621" y="2048267"/>
            <a:ext cx="5486400" cy="669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9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02508" y="-3423038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17425" y="441365"/>
            <a:ext cx="14662547" cy="2552650"/>
            <a:chOff x="0" y="0"/>
            <a:chExt cx="3861741" cy="6723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61741" cy="672303"/>
            </a:xfrm>
            <a:custGeom>
              <a:avLst/>
              <a:gdLst/>
              <a:ahLst/>
              <a:cxnLst/>
              <a:rect l="l" t="t" r="r" b="b"/>
              <a:pathLst>
                <a:path w="3861741" h="672303">
                  <a:moveTo>
                    <a:pt x="26928" y="0"/>
                  </a:moveTo>
                  <a:lnTo>
                    <a:pt x="3834812" y="0"/>
                  </a:lnTo>
                  <a:cubicBezTo>
                    <a:pt x="3849684" y="0"/>
                    <a:pt x="3861741" y="12056"/>
                    <a:pt x="3861741" y="26928"/>
                  </a:cubicBezTo>
                  <a:lnTo>
                    <a:pt x="3861741" y="645375"/>
                  </a:lnTo>
                  <a:cubicBezTo>
                    <a:pt x="3861741" y="652517"/>
                    <a:pt x="3858904" y="659366"/>
                    <a:pt x="3853854" y="664416"/>
                  </a:cubicBezTo>
                  <a:cubicBezTo>
                    <a:pt x="3848803" y="669466"/>
                    <a:pt x="3841954" y="672303"/>
                    <a:pt x="3834812" y="672303"/>
                  </a:cubicBezTo>
                  <a:lnTo>
                    <a:pt x="26928" y="672303"/>
                  </a:lnTo>
                  <a:cubicBezTo>
                    <a:pt x="19786" y="672303"/>
                    <a:pt x="12937" y="669466"/>
                    <a:pt x="7887" y="664416"/>
                  </a:cubicBezTo>
                  <a:cubicBezTo>
                    <a:pt x="2837" y="659366"/>
                    <a:pt x="0" y="652517"/>
                    <a:pt x="0" y="645375"/>
                  </a:cubicBezTo>
                  <a:lnTo>
                    <a:pt x="0" y="26928"/>
                  </a:lnTo>
                  <a:cubicBezTo>
                    <a:pt x="0" y="19786"/>
                    <a:pt x="2837" y="12937"/>
                    <a:pt x="7887" y="7887"/>
                  </a:cubicBezTo>
                  <a:cubicBezTo>
                    <a:pt x="12937" y="2837"/>
                    <a:pt x="19786" y="0"/>
                    <a:pt x="269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861741" cy="710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3086100" y="500098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KE" dirty="0"/>
          </a:p>
        </p:txBody>
      </p:sp>
      <p:grpSp>
        <p:nvGrpSpPr>
          <p:cNvPr id="13" name="Group 13"/>
          <p:cNvGrpSpPr/>
          <p:nvPr/>
        </p:nvGrpSpPr>
        <p:grpSpPr>
          <a:xfrm>
            <a:off x="1677478" y="3278418"/>
            <a:ext cx="4343456" cy="4403824"/>
            <a:chOff x="0" y="0"/>
            <a:chExt cx="1256010" cy="11598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-1593836" y="7555358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2" y="0"/>
                </a:lnTo>
                <a:lnTo>
                  <a:pt x="3613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35547" y="404733"/>
            <a:ext cx="15097985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9184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Key EDA Insights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69957" y="3391644"/>
            <a:ext cx="2021050" cy="100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942"/>
              </a:lnSpc>
            </a:pPr>
            <a:r>
              <a:rPr lang="en-US" sz="6788" spc="-95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02.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19706" y="4374321"/>
            <a:ext cx="3613543" cy="2854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Category &amp; Return Rates:</a:t>
            </a: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Electronics, Clothing, Home, Books → each ~25% returns, but Clothing slightly higher.</a:t>
            </a:r>
          </a:p>
          <a:p>
            <a:pPr algn="l">
              <a:lnSpc>
                <a:spcPts val="2799"/>
              </a:lnSpc>
            </a:pPr>
            <a:endParaRPr lang="en-US" sz="1999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Investigate product sizing or quality issues leading to returns.</a:t>
            </a:r>
          </a:p>
        </p:txBody>
      </p:sp>
      <p:sp>
        <p:nvSpPr>
          <p:cNvPr id="24" name="Freeform 24"/>
          <p:cNvSpPr/>
          <p:nvPr/>
        </p:nvSpPr>
        <p:spPr>
          <a:xfrm>
            <a:off x="16872249" y="-561615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13">
            <a:extLst>
              <a:ext uri="{FF2B5EF4-FFF2-40B4-BE49-F238E27FC236}">
                <a16:creationId xmlns:a16="http://schemas.microsoft.com/office/drawing/2014/main" id="{8496C5A5-308E-2D6E-25CB-F847BC86DBC7}"/>
              </a:ext>
            </a:extLst>
          </p:cNvPr>
          <p:cNvGrpSpPr/>
          <p:nvPr/>
        </p:nvGrpSpPr>
        <p:grpSpPr>
          <a:xfrm>
            <a:off x="1600200" y="8778145"/>
            <a:ext cx="14325599" cy="1067490"/>
            <a:chOff x="0" y="0"/>
            <a:chExt cx="1256010" cy="1159855"/>
          </a:xfrm>
        </p:grpSpPr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025203EC-C630-6E62-63BE-43CCF5E7A333}"/>
                </a:ext>
              </a:extLst>
            </p:cNvPr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27" name="TextBox 15">
              <a:extLst>
                <a:ext uri="{FF2B5EF4-FFF2-40B4-BE49-F238E27FC236}">
                  <a16:creationId xmlns:a16="http://schemas.microsoft.com/office/drawing/2014/main" id="{9DD2A88C-758D-6C8B-2688-F686EBC1EC8C}"/>
                </a:ext>
              </a:extLst>
            </p:cNvPr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92F416F-6C16-92AE-BB7A-14FFDAB1B8B8}"/>
              </a:ext>
            </a:extLst>
          </p:cNvPr>
          <p:cNvSpPr txBox="1"/>
          <p:nvPr/>
        </p:nvSpPr>
        <p:spPr>
          <a:xfrm>
            <a:off x="2438400" y="8948601"/>
            <a:ext cx="12035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Implications</a:t>
            </a:r>
            <a:r>
              <a:rPr lang="en-US" dirty="0" err="1"/>
              <a:t>:EDA</a:t>
            </a:r>
            <a:r>
              <a:rPr lang="en-US" dirty="0"/>
              <a:t> clarifies where we might focus deeper segmentation: e.g., exploring returns among Clothing sub-categories or reevaluating marketing in Q4 months.</a:t>
            </a:r>
            <a:endParaRPr lang="en-KE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ED6B38-693E-0290-D679-373EE8AC00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934" y="3029081"/>
            <a:ext cx="9371466" cy="56052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4D9F7-D1E6-F0C8-4CED-C1D2D4437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ADB8207-F041-07E7-25FF-010788F77137}"/>
              </a:ext>
            </a:extLst>
          </p:cNvPr>
          <p:cNvSpPr/>
          <p:nvPr/>
        </p:nvSpPr>
        <p:spPr>
          <a:xfrm>
            <a:off x="12757449" y="-2536474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C5E8093-5D0D-8F3E-7226-01C328D5A6A6}"/>
              </a:ext>
            </a:extLst>
          </p:cNvPr>
          <p:cNvGrpSpPr/>
          <p:nvPr/>
        </p:nvGrpSpPr>
        <p:grpSpPr>
          <a:xfrm>
            <a:off x="1317425" y="441365"/>
            <a:ext cx="14662547" cy="1174670"/>
            <a:chOff x="0" y="0"/>
            <a:chExt cx="3861741" cy="6723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E6755B6-23A4-A7ED-1806-9B040D429079}"/>
                </a:ext>
              </a:extLst>
            </p:cNvPr>
            <p:cNvSpPr/>
            <p:nvPr/>
          </p:nvSpPr>
          <p:spPr>
            <a:xfrm>
              <a:off x="0" y="0"/>
              <a:ext cx="3861741" cy="672303"/>
            </a:xfrm>
            <a:custGeom>
              <a:avLst/>
              <a:gdLst/>
              <a:ahLst/>
              <a:cxnLst/>
              <a:rect l="l" t="t" r="r" b="b"/>
              <a:pathLst>
                <a:path w="3861741" h="672303">
                  <a:moveTo>
                    <a:pt x="26928" y="0"/>
                  </a:moveTo>
                  <a:lnTo>
                    <a:pt x="3834812" y="0"/>
                  </a:lnTo>
                  <a:cubicBezTo>
                    <a:pt x="3849684" y="0"/>
                    <a:pt x="3861741" y="12056"/>
                    <a:pt x="3861741" y="26928"/>
                  </a:cubicBezTo>
                  <a:lnTo>
                    <a:pt x="3861741" y="645375"/>
                  </a:lnTo>
                  <a:cubicBezTo>
                    <a:pt x="3861741" y="652517"/>
                    <a:pt x="3858904" y="659366"/>
                    <a:pt x="3853854" y="664416"/>
                  </a:cubicBezTo>
                  <a:cubicBezTo>
                    <a:pt x="3848803" y="669466"/>
                    <a:pt x="3841954" y="672303"/>
                    <a:pt x="3834812" y="672303"/>
                  </a:cubicBezTo>
                  <a:lnTo>
                    <a:pt x="26928" y="672303"/>
                  </a:lnTo>
                  <a:cubicBezTo>
                    <a:pt x="19786" y="672303"/>
                    <a:pt x="12937" y="669466"/>
                    <a:pt x="7887" y="664416"/>
                  </a:cubicBezTo>
                  <a:cubicBezTo>
                    <a:pt x="2837" y="659366"/>
                    <a:pt x="0" y="652517"/>
                    <a:pt x="0" y="645375"/>
                  </a:cubicBezTo>
                  <a:lnTo>
                    <a:pt x="0" y="26928"/>
                  </a:lnTo>
                  <a:cubicBezTo>
                    <a:pt x="0" y="19786"/>
                    <a:pt x="2837" y="12937"/>
                    <a:pt x="7887" y="7887"/>
                  </a:cubicBezTo>
                  <a:cubicBezTo>
                    <a:pt x="12937" y="2837"/>
                    <a:pt x="19786" y="0"/>
                    <a:pt x="269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8F8B4A1-CC6B-0B67-85ED-E80DC28ABE3E}"/>
                </a:ext>
              </a:extLst>
            </p:cNvPr>
            <p:cNvSpPr txBox="1"/>
            <p:nvPr/>
          </p:nvSpPr>
          <p:spPr>
            <a:xfrm>
              <a:off x="0" y="-38100"/>
              <a:ext cx="3861741" cy="710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617F5E57-AA3C-EB48-C58F-87BA8CD591AB}"/>
              </a:ext>
            </a:extLst>
          </p:cNvPr>
          <p:cNvSpPr/>
          <p:nvPr/>
        </p:nvSpPr>
        <p:spPr>
          <a:xfrm>
            <a:off x="-3086100" y="500098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KE" dirty="0"/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90F6B2F-0C51-2A04-1C81-FFE0D1CD45AF}"/>
              </a:ext>
            </a:extLst>
          </p:cNvPr>
          <p:cNvGrpSpPr/>
          <p:nvPr/>
        </p:nvGrpSpPr>
        <p:grpSpPr>
          <a:xfrm>
            <a:off x="1266549" y="2026055"/>
            <a:ext cx="4037522" cy="4403824"/>
            <a:chOff x="0" y="0"/>
            <a:chExt cx="1256010" cy="115985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A2BB762-B555-9E4A-9144-ADE87FF3C4DD}"/>
                </a:ext>
              </a:extLst>
            </p:cNvPr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7D83B3E-B4A1-028F-0F3B-4BAA77CBE470}"/>
                </a:ext>
              </a:extLst>
            </p:cNvPr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D5576E76-2687-28C6-130F-A9F4D0D3EE02}"/>
              </a:ext>
            </a:extLst>
          </p:cNvPr>
          <p:cNvSpPr/>
          <p:nvPr/>
        </p:nvSpPr>
        <p:spPr>
          <a:xfrm>
            <a:off x="-1593836" y="7555358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2" y="0"/>
                </a:lnTo>
                <a:lnTo>
                  <a:pt x="3613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FF02AD3-A7D9-8B2D-8F3D-E6E58C9BDBD8}"/>
              </a:ext>
            </a:extLst>
          </p:cNvPr>
          <p:cNvSpPr txBox="1"/>
          <p:nvPr/>
        </p:nvSpPr>
        <p:spPr>
          <a:xfrm>
            <a:off x="1335547" y="404733"/>
            <a:ext cx="15097985" cy="131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88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Key EDA Insights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76717DF-90CB-B491-C9CF-F813862D5CF5}"/>
              </a:ext>
            </a:extLst>
          </p:cNvPr>
          <p:cNvSpPr txBox="1"/>
          <p:nvPr/>
        </p:nvSpPr>
        <p:spPr>
          <a:xfrm>
            <a:off x="1447800" y="2106778"/>
            <a:ext cx="2021050" cy="100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942"/>
              </a:lnSpc>
            </a:pPr>
            <a:r>
              <a:rPr lang="en-US" sz="6788" spc="-95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03.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4C400CF-5FB3-ADEF-63BB-CE44B8B34614}"/>
              </a:ext>
            </a:extLst>
          </p:cNvPr>
          <p:cNvSpPr txBox="1"/>
          <p:nvPr/>
        </p:nvSpPr>
        <p:spPr>
          <a:xfrm>
            <a:off x="1447800" y="3172594"/>
            <a:ext cx="3946329" cy="24954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Age &amp; Gender Patterns</a:t>
            </a: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Main age bracket: 20–69.</a:t>
            </a:r>
          </a:p>
          <a:p>
            <a:pPr algn="l">
              <a:lnSpc>
                <a:spcPts val="2799"/>
              </a:lnSpc>
            </a:pPr>
            <a:endParaRPr lang="en-US" sz="1999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99"/>
              </a:lnSpc>
            </a:pPr>
            <a:r>
              <a:rPr lang="en-US" sz="1999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Gender-based average spending: </a:t>
            </a: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~ $767 for females vs. $765 for males, negligible difference.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9FE57A0-6CA5-19F2-7CF0-147DC2FB4BA9}"/>
              </a:ext>
            </a:extLst>
          </p:cNvPr>
          <p:cNvSpPr/>
          <p:nvPr/>
        </p:nvSpPr>
        <p:spPr>
          <a:xfrm>
            <a:off x="16872249" y="-561615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13">
            <a:extLst>
              <a:ext uri="{FF2B5EF4-FFF2-40B4-BE49-F238E27FC236}">
                <a16:creationId xmlns:a16="http://schemas.microsoft.com/office/drawing/2014/main" id="{E021236E-A982-3E67-1435-0239EE8D5F1D}"/>
              </a:ext>
            </a:extLst>
          </p:cNvPr>
          <p:cNvGrpSpPr/>
          <p:nvPr/>
        </p:nvGrpSpPr>
        <p:grpSpPr>
          <a:xfrm>
            <a:off x="1600200" y="9021879"/>
            <a:ext cx="14325599" cy="823755"/>
            <a:chOff x="0" y="0"/>
            <a:chExt cx="1256010" cy="1159855"/>
          </a:xfrm>
        </p:grpSpPr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CD4EB33A-EE6B-84A2-AC3D-3523BAE130EB}"/>
                </a:ext>
              </a:extLst>
            </p:cNvPr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27" name="TextBox 15">
              <a:extLst>
                <a:ext uri="{FF2B5EF4-FFF2-40B4-BE49-F238E27FC236}">
                  <a16:creationId xmlns:a16="http://schemas.microsoft.com/office/drawing/2014/main" id="{D1CAAC44-8310-7257-486F-D02E80B1FA31}"/>
                </a:ext>
              </a:extLst>
            </p:cNvPr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2A18A59-A675-46A9-F8B7-C50CE1080F45}"/>
              </a:ext>
            </a:extLst>
          </p:cNvPr>
          <p:cNvSpPr txBox="1"/>
          <p:nvPr/>
        </p:nvSpPr>
        <p:spPr>
          <a:xfrm>
            <a:off x="2667000" y="9071257"/>
            <a:ext cx="12035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Implications</a:t>
            </a:r>
            <a:r>
              <a:rPr lang="en-US" dirty="0" err="1"/>
              <a:t>:EDA</a:t>
            </a:r>
            <a:r>
              <a:rPr lang="en-US" dirty="0"/>
              <a:t> clarifies where we might focus deeper segmentation: e.g., exploring returns among Clothing sub-categories or reevaluating marketing in Q4 months.</a:t>
            </a:r>
            <a:endParaRPr lang="en-KE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43595C3-FD97-3FF2-5488-6D88F402EB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275" y="1634534"/>
            <a:ext cx="6207325" cy="42862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6E92672-7CB9-FBB8-C2B8-A3D0697543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275" y="5369758"/>
            <a:ext cx="6512125" cy="362704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D82AD5A-612A-CAEC-9DE3-E8ED6D25ED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600" y="1616035"/>
            <a:ext cx="66675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219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9082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01859" y="289235"/>
            <a:ext cx="15884281" cy="2034865"/>
            <a:chOff x="0" y="0"/>
            <a:chExt cx="2790081" cy="10164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1262" y="2682063"/>
            <a:ext cx="6464938" cy="5882197"/>
            <a:chOff x="0" y="0"/>
            <a:chExt cx="2790081" cy="778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159106" y="5708398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50143" y="184851"/>
            <a:ext cx="15638340" cy="1261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72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Segmentation Strategy: RFM + CLTV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7749" y="2933700"/>
            <a:ext cx="6361889" cy="6081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RFM Methodology: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Recency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days since last purchase.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total number of transactions per customer.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Monetary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total spend.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Segments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“Champions” (top across R, F, M), “Lost Champions,” “Loyal Customers,” “Lost Low Value,” etc.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Key Findings: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“Lost Low Value”: ~11.2k, rarely purchase, minimal spend, big churn risk.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“Champions”: ~8.1k, high spend, frequent, prime for loyalty programs.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2827620" y="1623504"/>
            <a:ext cx="6235615" cy="6235615"/>
          </a:xfrm>
          <a:custGeom>
            <a:avLst/>
            <a:gdLst/>
            <a:ahLst/>
            <a:cxnLst/>
            <a:rect l="l" t="t" r="r" b="b"/>
            <a:pathLst>
              <a:path w="6235615" h="6235615">
                <a:moveTo>
                  <a:pt x="0" y="0"/>
                </a:moveTo>
                <a:lnTo>
                  <a:pt x="6235615" y="0"/>
                </a:lnTo>
                <a:lnTo>
                  <a:pt x="6235615" y="6235615"/>
                </a:lnTo>
                <a:lnTo>
                  <a:pt x="0" y="62356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BBAAAC-5264-6B87-BED9-5E444E683053}"/>
              </a:ext>
            </a:extLst>
          </p:cNvPr>
          <p:cNvSpPr txBox="1"/>
          <p:nvPr/>
        </p:nvSpPr>
        <p:spPr>
          <a:xfrm>
            <a:off x="1752599" y="1562509"/>
            <a:ext cx="146829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Why Both Approaches: RFM captures short-term, transaction-based behavior. CLTV extends horizon for lifetime revenue potential. Overlap helps fine-tune marketing budgets and retention strategies.</a:t>
            </a:r>
            <a:endParaRPr lang="en-KE" sz="20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3D52886-CF06-8E5C-64BB-0FF82BF7EF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2781299"/>
            <a:ext cx="7543800" cy="59431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87959-BBCB-45BF-3D21-F93A65208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5E26E4-4DC4-B549-1A2A-32368E1F1079}"/>
              </a:ext>
            </a:extLst>
          </p:cNvPr>
          <p:cNvSpPr/>
          <p:nvPr/>
        </p:nvSpPr>
        <p:spPr>
          <a:xfrm>
            <a:off x="569082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35F828E-4A87-C2BF-E989-D0714FCB4172}"/>
              </a:ext>
            </a:extLst>
          </p:cNvPr>
          <p:cNvGrpSpPr/>
          <p:nvPr/>
        </p:nvGrpSpPr>
        <p:grpSpPr>
          <a:xfrm>
            <a:off x="1201859" y="289235"/>
            <a:ext cx="15884281" cy="1738506"/>
            <a:chOff x="0" y="0"/>
            <a:chExt cx="2790081" cy="101645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1365ED1-AFD8-5CC8-A1FA-70C76B43DCE3}"/>
                </a:ext>
              </a:extLst>
            </p:cNvPr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81EF0AE-317A-1603-BC54-F35A49164D50}"/>
                </a:ext>
              </a:extLst>
            </p:cNvPr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D4FADA7-4BC7-336C-B509-ABCB1F933DC6}"/>
              </a:ext>
            </a:extLst>
          </p:cNvPr>
          <p:cNvGrpSpPr/>
          <p:nvPr/>
        </p:nvGrpSpPr>
        <p:grpSpPr>
          <a:xfrm>
            <a:off x="1565519" y="2476501"/>
            <a:ext cx="5902081" cy="6186996"/>
            <a:chOff x="0" y="0"/>
            <a:chExt cx="2790081" cy="7782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B8459F2-C61C-3580-03EA-9C600A639CCB}"/>
                </a:ext>
              </a:extLst>
            </p:cNvPr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F2A0AC6-6463-8C41-6CD2-E094A8526076}"/>
                </a:ext>
              </a:extLst>
            </p:cNvPr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09A1C239-FEAF-3E3A-92E5-4492E9ACF703}"/>
              </a:ext>
            </a:extLst>
          </p:cNvPr>
          <p:cNvSpPr/>
          <p:nvPr/>
        </p:nvSpPr>
        <p:spPr>
          <a:xfrm>
            <a:off x="12159106" y="5708398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A756EC4-27C9-C9BE-A44C-52C55D1B31E5}"/>
              </a:ext>
            </a:extLst>
          </p:cNvPr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B81FDA2-1627-35F1-E4A2-50019809BAC2}"/>
              </a:ext>
            </a:extLst>
          </p:cNvPr>
          <p:cNvSpPr txBox="1"/>
          <p:nvPr/>
        </p:nvSpPr>
        <p:spPr>
          <a:xfrm>
            <a:off x="2226185" y="639121"/>
            <a:ext cx="13835628" cy="1241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66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Segmentation Strategy: RFM + CLTV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26F36FC-6BAC-30F0-0656-5AE77B248D06}"/>
              </a:ext>
            </a:extLst>
          </p:cNvPr>
          <p:cNvSpPr txBox="1"/>
          <p:nvPr/>
        </p:nvSpPr>
        <p:spPr>
          <a:xfrm>
            <a:off x="1752601" y="2961113"/>
            <a:ext cx="5562600" cy="5645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CLTV Calculation: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Incorporates average order value, purchase frequency, churn risk, profit margin.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Segments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“Bronze” (lowest quartile CLTV), “Silver,” “Gold,” “Platinum” (top quartile).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Key Findings: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“Platinum”: ~top 25% CLTV, best for upselling or exclusive perks.</a:t>
            </a:r>
          </a:p>
          <a:p>
            <a:pPr algn="l">
              <a:lnSpc>
                <a:spcPts val="3359"/>
              </a:lnSpc>
            </a:pPr>
            <a:endParaRPr lang="en-US" sz="2400" b="1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553CEB1-0A13-366C-CC6A-D2BA759F208D}"/>
              </a:ext>
            </a:extLst>
          </p:cNvPr>
          <p:cNvSpPr/>
          <p:nvPr/>
        </p:nvSpPr>
        <p:spPr>
          <a:xfrm>
            <a:off x="12827620" y="1623504"/>
            <a:ext cx="6235615" cy="6235615"/>
          </a:xfrm>
          <a:custGeom>
            <a:avLst/>
            <a:gdLst/>
            <a:ahLst/>
            <a:cxnLst/>
            <a:rect l="l" t="t" r="r" b="b"/>
            <a:pathLst>
              <a:path w="6235615" h="6235615">
                <a:moveTo>
                  <a:pt x="0" y="0"/>
                </a:moveTo>
                <a:lnTo>
                  <a:pt x="6235615" y="0"/>
                </a:lnTo>
                <a:lnTo>
                  <a:pt x="6235615" y="6235615"/>
                </a:lnTo>
                <a:lnTo>
                  <a:pt x="0" y="62356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73B417A-D781-E42D-2EF1-D8D892AB01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315" y="2027740"/>
            <a:ext cx="6667500" cy="43800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8113180-1938-5C6F-2676-4D15583115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6407838"/>
            <a:ext cx="952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36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9E481B-0399-BBED-99DE-C4477984A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36A9A9-82B8-31AB-19F1-AA331C8521FD}"/>
              </a:ext>
            </a:extLst>
          </p:cNvPr>
          <p:cNvSpPr/>
          <p:nvPr/>
        </p:nvSpPr>
        <p:spPr>
          <a:xfrm>
            <a:off x="569082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CB6136C-9085-2004-9B07-38F30390C01A}"/>
              </a:ext>
            </a:extLst>
          </p:cNvPr>
          <p:cNvGrpSpPr/>
          <p:nvPr/>
        </p:nvGrpSpPr>
        <p:grpSpPr>
          <a:xfrm>
            <a:off x="1201859" y="289235"/>
            <a:ext cx="15884281" cy="1958665"/>
            <a:chOff x="0" y="0"/>
            <a:chExt cx="2790081" cy="101645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CF2A8F9-D95F-9413-35A2-B9157545BD9F}"/>
                </a:ext>
              </a:extLst>
            </p:cNvPr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A7AB133-F1DC-0E8A-517E-F333736BC1D3}"/>
                </a:ext>
              </a:extLst>
            </p:cNvPr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6E4304D-5983-030A-DEB1-3EA0194F8C57}"/>
              </a:ext>
            </a:extLst>
          </p:cNvPr>
          <p:cNvGrpSpPr/>
          <p:nvPr/>
        </p:nvGrpSpPr>
        <p:grpSpPr>
          <a:xfrm>
            <a:off x="1201859" y="2476498"/>
            <a:ext cx="6265741" cy="6781801"/>
            <a:chOff x="0" y="-304023"/>
            <a:chExt cx="2790081" cy="108232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BEB34E5-4133-6CDF-EB2B-D66A508932A7}"/>
                </a:ext>
              </a:extLst>
            </p:cNvPr>
            <p:cNvSpPr/>
            <p:nvPr/>
          </p:nvSpPr>
          <p:spPr>
            <a:xfrm>
              <a:off x="0" y="-304023"/>
              <a:ext cx="2790081" cy="1082321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  <p:txBody>
            <a:bodyPr/>
            <a:lstStyle/>
            <a:p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</a:rPr>
                <a:t>Key Insights: </a:t>
              </a: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“</a:t>
              </a:r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</a:rPr>
                <a:t>Platinum</a:t>
              </a:r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” strongly overlaps with Champions.</a:t>
              </a: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 “</a:t>
              </a:r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</a:rPr>
                <a:t>Gold</a:t>
              </a:r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” strongly overlaps with Loyal Customers.</a:t>
              </a: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“</a:t>
              </a:r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</a:rPr>
                <a:t>Bronze</a:t>
              </a:r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” and “</a:t>
              </a:r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</a:rPr>
                <a:t>Silver</a:t>
              </a:r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” strongly overlaps to recent customers and lost low value.</a:t>
              </a: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</a:rPr>
                <a:t>Recommendation</a:t>
              </a:r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:</a:t>
              </a:r>
            </a:p>
            <a:p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Up-sell “Platinum” and “Gold” customers with premium services.</a:t>
              </a:r>
            </a:p>
            <a:p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Incentivize recent customers with discounts</a:t>
              </a:r>
              <a:endParaRPr lang="en-KE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D9AEA16-B0B0-C421-807D-B5E1375BFAA9}"/>
                </a:ext>
              </a:extLst>
            </p:cNvPr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DFEDCC9-BF18-21F2-763D-2B7B18C944D0}"/>
              </a:ext>
            </a:extLst>
          </p:cNvPr>
          <p:cNvSpPr/>
          <p:nvPr/>
        </p:nvSpPr>
        <p:spPr>
          <a:xfrm>
            <a:off x="12159106" y="5708398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6612444-F976-3050-287A-7F6F1EB8016A}"/>
              </a:ext>
            </a:extLst>
          </p:cNvPr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6831B5A-F137-AC8E-1A45-669BA134F275}"/>
              </a:ext>
            </a:extLst>
          </p:cNvPr>
          <p:cNvSpPr txBox="1"/>
          <p:nvPr/>
        </p:nvSpPr>
        <p:spPr>
          <a:xfrm>
            <a:off x="2226185" y="639121"/>
            <a:ext cx="13835628" cy="1241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66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Segmentation Strategy: RFM + CLTV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F3FB4EA-2DC8-036A-249D-427EA2AD05E7}"/>
              </a:ext>
            </a:extLst>
          </p:cNvPr>
          <p:cNvSpPr/>
          <p:nvPr/>
        </p:nvSpPr>
        <p:spPr>
          <a:xfrm>
            <a:off x="12827620" y="1623504"/>
            <a:ext cx="6235615" cy="6235615"/>
          </a:xfrm>
          <a:custGeom>
            <a:avLst/>
            <a:gdLst/>
            <a:ahLst/>
            <a:cxnLst/>
            <a:rect l="l" t="t" r="r" b="b"/>
            <a:pathLst>
              <a:path w="6235615" h="6235615">
                <a:moveTo>
                  <a:pt x="0" y="0"/>
                </a:moveTo>
                <a:lnTo>
                  <a:pt x="6235615" y="0"/>
                </a:lnTo>
                <a:lnTo>
                  <a:pt x="6235615" y="6235615"/>
                </a:lnTo>
                <a:lnTo>
                  <a:pt x="0" y="62356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5AAF615-959F-1F76-D70D-01111F8691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628" y="2476498"/>
            <a:ext cx="7562572" cy="678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57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2254" y="51435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173200" y="-3779202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847206" y="1623504"/>
            <a:ext cx="10593587" cy="3859362"/>
            <a:chOff x="0" y="0"/>
            <a:chExt cx="2790081" cy="101645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47206" y="5708398"/>
            <a:ext cx="10593587" cy="2955098"/>
            <a:chOff x="0" y="0"/>
            <a:chExt cx="2790081" cy="7782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4165854" y="1623504"/>
            <a:ext cx="7039992" cy="7039992"/>
          </a:xfrm>
          <a:custGeom>
            <a:avLst/>
            <a:gdLst/>
            <a:ahLst/>
            <a:cxnLst/>
            <a:rect l="l" t="t" r="r" b="b"/>
            <a:pathLst>
              <a:path w="7039992" h="7039992">
                <a:moveTo>
                  <a:pt x="0" y="0"/>
                </a:moveTo>
                <a:lnTo>
                  <a:pt x="7039991" y="0"/>
                </a:lnTo>
                <a:lnTo>
                  <a:pt x="7039991" y="7039992"/>
                </a:lnTo>
                <a:lnTo>
                  <a:pt x="0" y="70399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448059" y="6102002"/>
            <a:ext cx="9496541" cy="1299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8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RFM highlights short-term patterns; CLTV projects long-term revenue. </a:t>
            </a:r>
          </a:p>
          <a:p>
            <a:pPr algn="ctr">
              <a:lnSpc>
                <a:spcPts val="3359"/>
              </a:lnSpc>
            </a:pPr>
            <a:r>
              <a:rPr lang="en-US" sz="28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The intersection reveals marketing priorities.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43401" y="2451025"/>
            <a:ext cx="8678286" cy="1513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5907"/>
              </a:lnSpc>
            </a:pPr>
            <a:r>
              <a:rPr lang="en-US" sz="5136" spc="-236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Value of Combining Both RMF and CLTV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412344" y="1394606"/>
            <a:ext cx="7039992" cy="7039992"/>
          </a:xfrm>
          <a:custGeom>
            <a:avLst/>
            <a:gdLst/>
            <a:ahLst/>
            <a:cxnLst/>
            <a:rect l="l" t="t" r="r" b="b"/>
            <a:pathLst>
              <a:path w="7039992" h="7039992">
                <a:moveTo>
                  <a:pt x="0" y="0"/>
                </a:moveTo>
                <a:lnTo>
                  <a:pt x="7039991" y="0"/>
                </a:lnTo>
                <a:lnTo>
                  <a:pt x="7039991" y="7039991"/>
                </a:lnTo>
                <a:lnTo>
                  <a:pt x="0" y="70399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93411" y="-5620133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49601" y="843635"/>
            <a:ext cx="16123999" cy="1344767"/>
            <a:chOff x="0" y="0"/>
            <a:chExt cx="2790081" cy="10164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7208" y="2292402"/>
            <a:ext cx="16308784" cy="5221408"/>
            <a:chOff x="0" y="0"/>
            <a:chExt cx="2790081" cy="778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668493" y="51435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76400" y="777446"/>
            <a:ext cx="16308784" cy="1286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8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Churn Analysis &amp; Model Approach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4302" y="2416531"/>
            <a:ext cx="15869298" cy="4773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Definition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A churned customer is one who hasn’t purchased in X months. Dataset has ~20% churn.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Product Category &amp; Churn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• Churn Rates by Product Category: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Clothing: 20.12%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Books: 20.08%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Electronics: 20.04%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Home: 19.96%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• While differences are small, Clothing shows the highest churn. Understanding product return processes or competition in this category may help reduce churn.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2668493" y="1609200"/>
            <a:ext cx="7344990" cy="6249919"/>
          </a:xfrm>
          <a:custGeom>
            <a:avLst/>
            <a:gdLst/>
            <a:ahLst/>
            <a:cxnLst/>
            <a:rect l="l" t="t" r="r" b="b"/>
            <a:pathLst>
              <a:path w="7344990" h="6249919">
                <a:moveTo>
                  <a:pt x="0" y="0"/>
                </a:moveTo>
                <a:lnTo>
                  <a:pt x="7344990" y="0"/>
                </a:lnTo>
                <a:lnTo>
                  <a:pt x="7344990" y="6249919"/>
                </a:lnTo>
                <a:lnTo>
                  <a:pt x="0" y="62499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E6CD8-180F-9375-D0D6-1696CFF8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CD8B4AE-2785-FBDC-A964-757BF8ABEB67}"/>
              </a:ext>
            </a:extLst>
          </p:cNvPr>
          <p:cNvSpPr/>
          <p:nvPr/>
        </p:nvSpPr>
        <p:spPr>
          <a:xfrm>
            <a:off x="-2793411" y="-5620133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738B005-FDBD-674C-8D9F-30C14E7CBC44}"/>
              </a:ext>
            </a:extLst>
          </p:cNvPr>
          <p:cNvGrpSpPr/>
          <p:nvPr/>
        </p:nvGrpSpPr>
        <p:grpSpPr>
          <a:xfrm>
            <a:off x="1249601" y="283767"/>
            <a:ext cx="16123999" cy="1344767"/>
            <a:chOff x="0" y="0"/>
            <a:chExt cx="2790081" cy="101645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942DA91-FD35-FE6C-C61C-C56A8960FD4E}"/>
                </a:ext>
              </a:extLst>
            </p:cNvPr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113C7DB-6CDE-85F0-E74F-883D7CA1DFAA}"/>
                </a:ext>
              </a:extLst>
            </p:cNvPr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6FA011A-6080-30CB-470D-47DF0A62C7D6}"/>
              </a:ext>
            </a:extLst>
          </p:cNvPr>
          <p:cNvGrpSpPr/>
          <p:nvPr/>
        </p:nvGrpSpPr>
        <p:grpSpPr>
          <a:xfrm>
            <a:off x="1157208" y="1690599"/>
            <a:ext cx="16308784" cy="6556172"/>
            <a:chOff x="0" y="0"/>
            <a:chExt cx="2790081" cy="7782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358D8EC-96AF-BBC9-1A4B-86492C3E1B7D}"/>
                </a:ext>
              </a:extLst>
            </p:cNvPr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96EBE23-B39C-DD65-8681-B195E13080CC}"/>
                </a:ext>
              </a:extLst>
            </p:cNvPr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921E16E-0435-99F8-A6C9-DC69B1674EC0}"/>
              </a:ext>
            </a:extLst>
          </p:cNvPr>
          <p:cNvSpPr/>
          <p:nvPr/>
        </p:nvSpPr>
        <p:spPr>
          <a:xfrm>
            <a:off x="12668493" y="51435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284470A-CC2E-03DC-02A8-CEC2C05E6DF2}"/>
              </a:ext>
            </a:extLst>
          </p:cNvPr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442ADDE-FB20-B7D9-FF67-1D0D28AFA7C7}"/>
              </a:ext>
            </a:extLst>
          </p:cNvPr>
          <p:cNvSpPr txBox="1"/>
          <p:nvPr/>
        </p:nvSpPr>
        <p:spPr>
          <a:xfrm>
            <a:off x="1600200" y="260308"/>
            <a:ext cx="16308784" cy="1286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8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Churn Analysis &amp; Model Approach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2FFD98B-7399-C464-9C96-2607F68806AE}"/>
              </a:ext>
            </a:extLst>
          </p:cNvPr>
          <p:cNvSpPr txBox="1"/>
          <p:nvPr/>
        </p:nvSpPr>
        <p:spPr>
          <a:xfrm>
            <a:off x="1341993" y="1678940"/>
            <a:ext cx="16123999" cy="6953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Demographics (Gender)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• Churn Rates by Gender: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Female: 20.16%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Male: 19.94%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• The churn gap between genders is minimal (≈ 0.2%), suggesting both male and female segments similarly warrant retention efforts.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Customer Value &amp; Segments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• Churn Rates by Value Segment: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Gold: 20.42%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Silver: 20.15%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Platinum: 19.98%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Bronze: 19.39%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• Bronze customers churn the least, while Gold customers are the most likely to churn (possibly due to higher expectations). Targeted loyalty programs for Gold members may help reduce attrition.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8CA75D9-00B2-AA93-377A-3EA32E87C3CE}"/>
              </a:ext>
            </a:extLst>
          </p:cNvPr>
          <p:cNvSpPr/>
          <p:nvPr/>
        </p:nvSpPr>
        <p:spPr>
          <a:xfrm>
            <a:off x="12668493" y="1609200"/>
            <a:ext cx="7344990" cy="6249919"/>
          </a:xfrm>
          <a:custGeom>
            <a:avLst/>
            <a:gdLst/>
            <a:ahLst/>
            <a:cxnLst/>
            <a:rect l="l" t="t" r="r" b="b"/>
            <a:pathLst>
              <a:path w="7344990" h="6249919">
                <a:moveTo>
                  <a:pt x="0" y="0"/>
                </a:moveTo>
                <a:lnTo>
                  <a:pt x="7344990" y="0"/>
                </a:lnTo>
                <a:lnTo>
                  <a:pt x="7344990" y="6249919"/>
                </a:lnTo>
                <a:lnTo>
                  <a:pt x="0" y="62499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9994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8BFCFF-FE7E-2EF9-2B8D-4FF39FFBB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944F7D7-4834-24FC-EAA6-2FB05E8E9203}"/>
              </a:ext>
            </a:extLst>
          </p:cNvPr>
          <p:cNvSpPr/>
          <p:nvPr/>
        </p:nvSpPr>
        <p:spPr>
          <a:xfrm>
            <a:off x="-2793411" y="-5620133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D63A3BB-3208-B872-1C78-D117699BAF2F}"/>
              </a:ext>
            </a:extLst>
          </p:cNvPr>
          <p:cNvGrpSpPr/>
          <p:nvPr/>
        </p:nvGrpSpPr>
        <p:grpSpPr>
          <a:xfrm>
            <a:off x="1395951" y="588021"/>
            <a:ext cx="15274681" cy="1379567"/>
            <a:chOff x="0" y="0"/>
            <a:chExt cx="2790081" cy="101645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5F84539-98B2-E823-0796-DF526FC4407A}"/>
                </a:ext>
              </a:extLst>
            </p:cNvPr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EA5589C-42BC-DF15-834C-75C8B048A28E}"/>
                </a:ext>
              </a:extLst>
            </p:cNvPr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3754CD9-33FD-8377-7C80-DFCE5C2DE38D}"/>
              </a:ext>
            </a:extLst>
          </p:cNvPr>
          <p:cNvGrpSpPr/>
          <p:nvPr/>
        </p:nvGrpSpPr>
        <p:grpSpPr>
          <a:xfrm>
            <a:off x="533401" y="2247899"/>
            <a:ext cx="9944100" cy="7451079"/>
            <a:chOff x="0" y="0"/>
            <a:chExt cx="2790081" cy="7782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227C9D8-06FF-B60E-6D05-B17D103F1A59}"/>
                </a:ext>
              </a:extLst>
            </p:cNvPr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B2FE8EA-BD08-9148-32AB-89C1762C895E}"/>
                </a:ext>
              </a:extLst>
            </p:cNvPr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725E374A-B132-65DE-C3EA-151FD843CBBC}"/>
              </a:ext>
            </a:extLst>
          </p:cNvPr>
          <p:cNvSpPr/>
          <p:nvPr/>
        </p:nvSpPr>
        <p:spPr>
          <a:xfrm>
            <a:off x="12668493" y="51435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45C59A7-670F-2379-9C50-A1CF8B651F34}"/>
              </a:ext>
            </a:extLst>
          </p:cNvPr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165837C-0D71-239A-1C90-D248BCCE9E14}"/>
              </a:ext>
            </a:extLst>
          </p:cNvPr>
          <p:cNvSpPr txBox="1"/>
          <p:nvPr/>
        </p:nvSpPr>
        <p:spPr>
          <a:xfrm>
            <a:off x="1565519" y="709546"/>
            <a:ext cx="15740628" cy="1286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8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Churn Analysis &amp; Model Approach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D72C473-CB68-B13D-D6A9-50B7C1417BBA}"/>
              </a:ext>
            </a:extLst>
          </p:cNvPr>
          <p:cNvSpPr txBox="1"/>
          <p:nvPr/>
        </p:nvSpPr>
        <p:spPr>
          <a:xfrm>
            <a:off x="1028700" y="2459594"/>
            <a:ext cx="9944100" cy="6067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Class Imbalance: </a:t>
            </a:r>
          </a:p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SMOTE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oversampling used to bolster minority (churn ~20%) class.</a:t>
            </a:r>
          </a:p>
          <a:p>
            <a:pPr algn="l">
              <a:lnSpc>
                <a:spcPts val="3359"/>
              </a:lnSpc>
            </a:pP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Original Target Distribution in </a:t>
            </a:r>
            <a:r>
              <a:rPr lang="en-US" sz="2000" b="1" dirty="0" err="1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y_train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3359"/>
              </a:lnSpc>
            </a:pP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Churn: 0    159896, 1     40104</a:t>
            </a:r>
          </a:p>
          <a:p>
            <a:pPr algn="l">
              <a:lnSpc>
                <a:spcPts val="3359"/>
              </a:lnSpc>
            </a:pPr>
            <a:endParaRPr lang="en-US" sz="20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After </a:t>
            </a: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SMOTE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, new Target Distribution in </a:t>
            </a:r>
            <a:r>
              <a:rPr lang="en-US" sz="2000" b="1" dirty="0" err="1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y_train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3359"/>
              </a:lnSpc>
            </a:pP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Churn: 0    159896, 1    159896</a:t>
            </a:r>
          </a:p>
          <a:p>
            <a:pPr algn="l">
              <a:lnSpc>
                <a:spcPts val="3359"/>
              </a:lnSpc>
            </a:pPr>
            <a:endParaRPr lang="en-US" sz="20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Models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Logistic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Regression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~77% accuracy, ~5% recall (low sensitivity to churn).</a:t>
            </a:r>
          </a:p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Random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Forest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~81% accuracy, ~20% recall (higher sensitivity).</a:t>
            </a:r>
          </a:p>
          <a:p>
            <a:pPr algn="l">
              <a:lnSpc>
                <a:spcPts val="3359"/>
              </a:lnSpc>
            </a:pPr>
            <a:r>
              <a:rPr lang="en-US" sz="2000" b="1" dirty="0" err="1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~80% accuracy, ~8% recall.</a:t>
            </a:r>
          </a:p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Simple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Neural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Net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~78% accuracy, ~3% recall, needs tuning.</a:t>
            </a:r>
          </a:p>
          <a:p>
            <a:pPr algn="l">
              <a:lnSpc>
                <a:spcPts val="3359"/>
              </a:lnSpc>
            </a:pPr>
            <a:endParaRPr lang="en-US" sz="20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D95B9A2-38AC-3E70-5907-FCBE74C56053}"/>
              </a:ext>
            </a:extLst>
          </p:cNvPr>
          <p:cNvSpPr/>
          <p:nvPr/>
        </p:nvSpPr>
        <p:spPr>
          <a:xfrm>
            <a:off x="12668493" y="1609200"/>
            <a:ext cx="7344990" cy="6249919"/>
          </a:xfrm>
          <a:custGeom>
            <a:avLst/>
            <a:gdLst/>
            <a:ahLst/>
            <a:cxnLst/>
            <a:rect l="l" t="t" r="r" b="b"/>
            <a:pathLst>
              <a:path w="7344990" h="6249919">
                <a:moveTo>
                  <a:pt x="0" y="0"/>
                </a:moveTo>
                <a:lnTo>
                  <a:pt x="7344990" y="0"/>
                </a:lnTo>
                <a:lnTo>
                  <a:pt x="7344990" y="6249919"/>
                </a:lnTo>
                <a:lnTo>
                  <a:pt x="0" y="62499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E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BF75424-00CF-1EA8-722E-655FDEA546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1" y="2247899"/>
            <a:ext cx="7611689" cy="609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23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44500" y="-160861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50449" y="428104"/>
            <a:ext cx="15575551" cy="2110383"/>
            <a:chOff x="0" y="0"/>
            <a:chExt cx="2790081" cy="10164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2669630" y="61722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38820" y="2640460"/>
            <a:ext cx="8096870" cy="5001777"/>
            <a:chOff x="0" y="0"/>
            <a:chExt cx="2790081" cy="7782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40677" y="3425466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2669630" y="1623504"/>
            <a:ext cx="5916762" cy="5916762"/>
          </a:xfrm>
          <a:custGeom>
            <a:avLst/>
            <a:gdLst/>
            <a:ahLst/>
            <a:cxnLst/>
            <a:rect l="l" t="t" r="r" b="b"/>
            <a:pathLst>
              <a:path w="5916762" h="5916762">
                <a:moveTo>
                  <a:pt x="0" y="0"/>
                </a:moveTo>
                <a:lnTo>
                  <a:pt x="5916761" y="0"/>
                </a:lnTo>
                <a:lnTo>
                  <a:pt x="5916761" y="5916762"/>
                </a:lnTo>
                <a:lnTo>
                  <a:pt x="0" y="59167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01803" y="342473"/>
            <a:ext cx="15877395" cy="2141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8424"/>
              </a:lnSpc>
            </a:pPr>
            <a:r>
              <a:rPr lang="en-US" sz="7200" spc="-100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Feature </a:t>
            </a:r>
            <a:r>
              <a:rPr lang="en-US" sz="6600" spc="-100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Importance</a:t>
            </a:r>
            <a:r>
              <a:rPr lang="en-US" sz="7200" spc="-100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&amp; Business Implications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13039" y="3011465"/>
            <a:ext cx="7254761" cy="3465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Beyond Accuracy: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Toward Actionable Insights.</a:t>
            </a:r>
          </a:p>
          <a:p>
            <a:pPr>
              <a:lnSpc>
                <a:spcPts val="3359"/>
              </a:lnSpc>
            </a:pPr>
            <a:endParaRPr lang="en-US" sz="2400" b="1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Key Features: 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Among the top features influencing churn prediction are. Recency, Purchase Frequency, Product Price and  Customer Age echoing the importance of purchase behavior in predicting churn</a:t>
            </a:r>
          </a:p>
          <a:p>
            <a:pPr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0F440C-77A9-83BD-6CFD-83A1FD77DA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157" y="2640461"/>
            <a:ext cx="7845568" cy="500177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53535" y="-3517343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3000" y="1580455"/>
            <a:ext cx="15306332" cy="1722090"/>
            <a:chOff x="0" y="0"/>
            <a:chExt cx="2559271" cy="6723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59271" cy="672303"/>
            </a:xfrm>
            <a:custGeom>
              <a:avLst/>
              <a:gdLst/>
              <a:ahLst/>
              <a:cxnLst/>
              <a:rect l="l" t="t" r="r" b="b"/>
              <a:pathLst>
                <a:path w="2559271" h="672303">
                  <a:moveTo>
                    <a:pt x="40633" y="0"/>
                  </a:moveTo>
                  <a:lnTo>
                    <a:pt x="2518639" y="0"/>
                  </a:lnTo>
                  <a:cubicBezTo>
                    <a:pt x="2529415" y="0"/>
                    <a:pt x="2539750" y="4281"/>
                    <a:pt x="2547370" y="11901"/>
                  </a:cubicBezTo>
                  <a:cubicBezTo>
                    <a:pt x="2554991" y="19521"/>
                    <a:pt x="2559271" y="29856"/>
                    <a:pt x="2559271" y="40633"/>
                  </a:cubicBezTo>
                  <a:lnTo>
                    <a:pt x="2559271" y="631670"/>
                  </a:lnTo>
                  <a:cubicBezTo>
                    <a:pt x="2559271" y="654111"/>
                    <a:pt x="2541080" y="672303"/>
                    <a:pt x="2518639" y="672303"/>
                  </a:cubicBezTo>
                  <a:lnTo>
                    <a:pt x="40633" y="672303"/>
                  </a:lnTo>
                  <a:cubicBezTo>
                    <a:pt x="18192" y="672303"/>
                    <a:pt x="0" y="654111"/>
                    <a:pt x="0" y="631670"/>
                  </a:cubicBezTo>
                  <a:lnTo>
                    <a:pt x="0" y="40633"/>
                  </a:lnTo>
                  <a:cubicBezTo>
                    <a:pt x="0" y="18192"/>
                    <a:pt x="18192" y="0"/>
                    <a:pt x="406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59271" cy="710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76374" y="4000500"/>
            <a:ext cx="4768912" cy="4946777"/>
            <a:chOff x="0" y="0"/>
            <a:chExt cx="1256010" cy="11598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48530" y="4000500"/>
            <a:ext cx="4768912" cy="4946777"/>
            <a:chOff x="0" y="0"/>
            <a:chExt cx="1256010" cy="11598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3086100" y="5225251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2139" y="114300"/>
            <a:ext cx="7126090" cy="7126090"/>
          </a:xfrm>
          <a:custGeom>
            <a:avLst/>
            <a:gdLst/>
            <a:ahLst/>
            <a:cxnLst/>
            <a:rect l="l" t="t" r="r" b="b"/>
            <a:pathLst>
              <a:path w="7126090" h="7126090">
                <a:moveTo>
                  <a:pt x="0" y="0"/>
                </a:moveTo>
                <a:lnTo>
                  <a:pt x="7126089" y="0"/>
                </a:lnTo>
                <a:lnTo>
                  <a:pt x="7126089" y="7126090"/>
                </a:lnTo>
                <a:lnTo>
                  <a:pt x="0" y="71260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43000" y="1661625"/>
            <a:ext cx="15306332" cy="1286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8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Business Relevance &amp; Next Steps: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5400" y="5597109"/>
            <a:ext cx="4362918" cy="2854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Retention Priorities:</a:t>
            </a: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“Gold” &amp; “Platinum” with rising Recency need urgent re-engagement.</a:t>
            </a:r>
          </a:p>
          <a:p>
            <a:pPr algn="l">
              <a:lnSpc>
                <a:spcPts val="2799"/>
              </a:lnSpc>
            </a:pPr>
            <a:endParaRPr lang="en-US" sz="1999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High-Frequency or High-Monetary customers deserve curated loyalty programs.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05474" y="5518014"/>
            <a:ext cx="3780566" cy="35727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ROI Consideration: </a:t>
            </a: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Minimizing churn in the top 10% of your revenue base yields disproportionate returns.</a:t>
            </a:r>
          </a:p>
          <a:p>
            <a:pPr algn="l">
              <a:lnSpc>
                <a:spcPts val="2799"/>
              </a:lnSpc>
            </a:pPr>
            <a:endParaRPr lang="en-US" sz="1999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Offer loyalty perks, special promotions, or automated payment incentives.</a:t>
            </a:r>
          </a:p>
          <a:p>
            <a:pPr algn="l">
              <a:lnSpc>
                <a:spcPts val="2799"/>
              </a:lnSpc>
            </a:pPr>
            <a:endParaRPr lang="en-US" sz="1999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43000" y="4445510"/>
            <a:ext cx="2021050" cy="100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942"/>
              </a:lnSpc>
            </a:pPr>
            <a:r>
              <a:rPr lang="en-US" sz="6788" spc="-95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01.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34622" y="4445510"/>
            <a:ext cx="2021050" cy="100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942"/>
              </a:lnSpc>
            </a:pPr>
            <a:r>
              <a:rPr lang="en-US" sz="6788" spc="-95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02.</a:t>
            </a: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EE2777D4-AB87-2F6B-D17F-3FE7B3ECE601}"/>
              </a:ext>
            </a:extLst>
          </p:cNvPr>
          <p:cNvGrpSpPr/>
          <p:nvPr/>
        </p:nvGrpSpPr>
        <p:grpSpPr>
          <a:xfrm>
            <a:off x="11304866" y="4000500"/>
            <a:ext cx="4768912" cy="4841368"/>
            <a:chOff x="0" y="0"/>
            <a:chExt cx="1256010" cy="1159855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3A0D6C72-1475-B4BC-D3B9-B65BA93CFC97}"/>
                </a:ext>
              </a:extLst>
            </p:cNvPr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  <p:txBody>
            <a:bodyPr/>
            <a:lstStyle/>
            <a:p>
              <a:endParaRPr lang="en-KE" dirty="0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95384C82-90BD-9E65-B8E4-A268A3AC7E49}"/>
                </a:ext>
              </a:extLst>
            </p:cNvPr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18">
            <a:extLst>
              <a:ext uri="{FF2B5EF4-FFF2-40B4-BE49-F238E27FC236}">
                <a16:creationId xmlns:a16="http://schemas.microsoft.com/office/drawing/2014/main" id="{14EA52B6-16FB-1679-07AE-BF20AEAF7542}"/>
              </a:ext>
            </a:extLst>
          </p:cNvPr>
          <p:cNvSpPr txBox="1"/>
          <p:nvPr/>
        </p:nvSpPr>
        <p:spPr>
          <a:xfrm>
            <a:off x="11463798" y="4438546"/>
            <a:ext cx="2021050" cy="100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942"/>
              </a:lnSpc>
            </a:pPr>
            <a:r>
              <a:rPr lang="en-US" sz="6788" spc="-95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03.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79AD79-3718-C65B-496F-4E4FC6AD7356}"/>
              </a:ext>
            </a:extLst>
          </p:cNvPr>
          <p:cNvSpPr txBox="1"/>
          <p:nvPr/>
        </p:nvSpPr>
        <p:spPr>
          <a:xfrm>
            <a:off x="12191999" y="5376793"/>
            <a:ext cx="3276601" cy="3170099"/>
          </a:xfrm>
          <a:custGeom>
            <a:avLst/>
            <a:gdLst>
              <a:gd name="connsiteX0" fmla="*/ 0 w 9290099"/>
              <a:gd name="connsiteY0" fmla="*/ 0 h 369332"/>
              <a:gd name="connsiteX1" fmla="*/ 9290099 w 9290099"/>
              <a:gd name="connsiteY1" fmla="*/ 0 h 369332"/>
              <a:gd name="connsiteX2" fmla="*/ 9290099 w 9290099"/>
              <a:gd name="connsiteY2" fmla="*/ 369332 h 369332"/>
              <a:gd name="connsiteX3" fmla="*/ 0 w 9290099"/>
              <a:gd name="connsiteY3" fmla="*/ 369332 h 369332"/>
              <a:gd name="connsiteX4" fmla="*/ 0 w 9290099"/>
              <a:gd name="connsiteY4" fmla="*/ 0 h 369332"/>
              <a:gd name="connsiteX0" fmla="*/ 5622325 w 9290099"/>
              <a:gd name="connsiteY0" fmla="*/ 0 h 1394942"/>
              <a:gd name="connsiteX1" fmla="*/ 9290099 w 9290099"/>
              <a:gd name="connsiteY1" fmla="*/ 1025610 h 1394942"/>
              <a:gd name="connsiteX2" fmla="*/ 9290099 w 9290099"/>
              <a:gd name="connsiteY2" fmla="*/ 1394942 h 1394942"/>
              <a:gd name="connsiteX3" fmla="*/ 0 w 9290099"/>
              <a:gd name="connsiteY3" fmla="*/ 1394942 h 1394942"/>
              <a:gd name="connsiteX4" fmla="*/ 5622325 w 9290099"/>
              <a:gd name="connsiteY4" fmla="*/ 0 h 1394942"/>
              <a:gd name="connsiteX0" fmla="*/ 5622325 w 9290099"/>
              <a:gd name="connsiteY0" fmla="*/ 0 h 3755083"/>
              <a:gd name="connsiteX1" fmla="*/ 9290099 w 9290099"/>
              <a:gd name="connsiteY1" fmla="*/ 1025610 h 3755083"/>
              <a:gd name="connsiteX2" fmla="*/ 6546899 w 9290099"/>
              <a:gd name="connsiteY2" fmla="*/ 3755083 h 3755083"/>
              <a:gd name="connsiteX3" fmla="*/ 0 w 9290099"/>
              <a:gd name="connsiteY3" fmla="*/ 1394942 h 3755083"/>
              <a:gd name="connsiteX4" fmla="*/ 5622325 w 9290099"/>
              <a:gd name="connsiteY4" fmla="*/ 0 h 3755083"/>
              <a:gd name="connsiteX0" fmla="*/ 5622325 w 7362445"/>
              <a:gd name="connsiteY0" fmla="*/ 0 h 3755083"/>
              <a:gd name="connsiteX1" fmla="*/ 7362445 w 7362445"/>
              <a:gd name="connsiteY1" fmla="*/ 370702 h 3755083"/>
              <a:gd name="connsiteX2" fmla="*/ 6546899 w 7362445"/>
              <a:gd name="connsiteY2" fmla="*/ 3755083 h 3755083"/>
              <a:gd name="connsiteX3" fmla="*/ 0 w 7362445"/>
              <a:gd name="connsiteY3" fmla="*/ 1394942 h 3755083"/>
              <a:gd name="connsiteX4" fmla="*/ 5622325 w 7362445"/>
              <a:gd name="connsiteY4" fmla="*/ 0 h 3755083"/>
              <a:gd name="connsiteX0" fmla="*/ 2088292 w 3828412"/>
              <a:gd name="connsiteY0" fmla="*/ 0 h 3755083"/>
              <a:gd name="connsiteX1" fmla="*/ 3828412 w 3828412"/>
              <a:gd name="connsiteY1" fmla="*/ 370702 h 3755083"/>
              <a:gd name="connsiteX2" fmla="*/ 3012866 w 3828412"/>
              <a:gd name="connsiteY2" fmla="*/ 3755083 h 3755083"/>
              <a:gd name="connsiteX3" fmla="*/ 0 w 3828412"/>
              <a:gd name="connsiteY3" fmla="*/ 3693299 h 3755083"/>
              <a:gd name="connsiteX4" fmla="*/ 2088292 w 3828412"/>
              <a:gd name="connsiteY4" fmla="*/ 0 h 3755083"/>
              <a:gd name="connsiteX0" fmla="*/ 0 w 3914910"/>
              <a:gd name="connsiteY0" fmla="*/ 284206 h 3384381"/>
              <a:gd name="connsiteX1" fmla="*/ 3914910 w 3914910"/>
              <a:gd name="connsiteY1" fmla="*/ 0 h 3384381"/>
              <a:gd name="connsiteX2" fmla="*/ 3099364 w 3914910"/>
              <a:gd name="connsiteY2" fmla="*/ 3384381 h 3384381"/>
              <a:gd name="connsiteX3" fmla="*/ 86498 w 3914910"/>
              <a:gd name="connsiteY3" fmla="*/ 3322597 h 3384381"/>
              <a:gd name="connsiteX4" fmla="*/ 0 w 3914910"/>
              <a:gd name="connsiteY4" fmla="*/ 284206 h 3384381"/>
              <a:gd name="connsiteX0" fmla="*/ 0 w 4199115"/>
              <a:gd name="connsiteY0" fmla="*/ 284206 h 3483235"/>
              <a:gd name="connsiteX1" fmla="*/ 3914910 w 4199115"/>
              <a:gd name="connsiteY1" fmla="*/ 0 h 3483235"/>
              <a:gd name="connsiteX2" fmla="*/ 4199115 w 4199115"/>
              <a:gd name="connsiteY2" fmla="*/ 3483235 h 3483235"/>
              <a:gd name="connsiteX3" fmla="*/ 86498 w 4199115"/>
              <a:gd name="connsiteY3" fmla="*/ 3322597 h 3483235"/>
              <a:gd name="connsiteX4" fmla="*/ 0 w 4199115"/>
              <a:gd name="connsiteY4" fmla="*/ 284206 h 3483235"/>
              <a:gd name="connsiteX0" fmla="*/ 0 w 4273256"/>
              <a:gd name="connsiteY0" fmla="*/ 37071 h 3236100"/>
              <a:gd name="connsiteX1" fmla="*/ 4273256 w 4273256"/>
              <a:gd name="connsiteY1" fmla="*/ 0 h 3236100"/>
              <a:gd name="connsiteX2" fmla="*/ 4199115 w 4273256"/>
              <a:gd name="connsiteY2" fmla="*/ 3236100 h 3236100"/>
              <a:gd name="connsiteX3" fmla="*/ 86498 w 4273256"/>
              <a:gd name="connsiteY3" fmla="*/ 3075462 h 3236100"/>
              <a:gd name="connsiteX4" fmla="*/ 0 w 4273256"/>
              <a:gd name="connsiteY4" fmla="*/ 37071 h 3236100"/>
              <a:gd name="connsiteX0" fmla="*/ 407773 w 4186758"/>
              <a:gd name="connsiteY0" fmla="*/ 37071 h 3236100"/>
              <a:gd name="connsiteX1" fmla="*/ 4186758 w 4186758"/>
              <a:gd name="connsiteY1" fmla="*/ 0 h 3236100"/>
              <a:gd name="connsiteX2" fmla="*/ 4112617 w 4186758"/>
              <a:gd name="connsiteY2" fmla="*/ 3236100 h 3236100"/>
              <a:gd name="connsiteX3" fmla="*/ 0 w 4186758"/>
              <a:gd name="connsiteY3" fmla="*/ 3075462 h 3236100"/>
              <a:gd name="connsiteX4" fmla="*/ 407773 w 4186758"/>
              <a:gd name="connsiteY4" fmla="*/ 37071 h 3236100"/>
              <a:gd name="connsiteX0" fmla="*/ 37071 w 3816056"/>
              <a:gd name="connsiteY0" fmla="*/ 37071 h 3396737"/>
              <a:gd name="connsiteX1" fmla="*/ 3816056 w 3816056"/>
              <a:gd name="connsiteY1" fmla="*/ 0 h 3396737"/>
              <a:gd name="connsiteX2" fmla="*/ 3741915 w 3816056"/>
              <a:gd name="connsiteY2" fmla="*/ 3236100 h 3396737"/>
              <a:gd name="connsiteX3" fmla="*/ 0 w 3816056"/>
              <a:gd name="connsiteY3" fmla="*/ 3396737 h 3396737"/>
              <a:gd name="connsiteX4" fmla="*/ 37071 w 3816056"/>
              <a:gd name="connsiteY4" fmla="*/ 37071 h 3396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6056" h="3396737">
                <a:moveTo>
                  <a:pt x="37071" y="37071"/>
                </a:moveTo>
                <a:lnTo>
                  <a:pt x="3816056" y="0"/>
                </a:lnTo>
                <a:lnTo>
                  <a:pt x="3741915" y="3236100"/>
                </a:lnTo>
                <a:lnTo>
                  <a:pt x="0" y="3396737"/>
                </a:lnTo>
                <a:lnTo>
                  <a:pt x="37071" y="37071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 &amp; Payment Methods: </a:t>
            </a:r>
          </a:p>
          <a:p>
            <a:endParaRPr lang="en-US" sz="2000" b="1" dirty="0">
              <a:solidFill>
                <a:schemeClr val="accent5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Clothing category and one-off Cash/PayPal buyers are slightly more prone to churn; consider subscription billing or targeted re-engagement.</a:t>
            </a:r>
            <a:endParaRPr lang="en-KE" sz="2000" dirty="0">
              <a:solidFill>
                <a:schemeClr val="accent5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120CD-7D39-C7F0-43EA-B903E7AE8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B271A79-B178-F86A-2321-18F8FA1B4EFD}"/>
              </a:ext>
            </a:extLst>
          </p:cNvPr>
          <p:cNvSpPr/>
          <p:nvPr/>
        </p:nvSpPr>
        <p:spPr>
          <a:xfrm>
            <a:off x="13144500" y="-160861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67F0972-B3A9-F616-87B1-9550F13AADD9}"/>
              </a:ext>
            </a:extLst>
          </p:cNvPr>
          <p:cNvGrpSpPr/>
          <p:nvPr/>
        </p:nvGrpSpPr>
        <p:grpSpPr>
          <a:xfrm>
            <a:off x="1066800" y="495300"/>
            <a:ext cx="16306800" cy="1686804"/>
            <a:chOff x="0" y="0"/>
            <a:chExt cx="2790081" cy="101645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BB9078C-D1F6-39A4-8AAD-44A19F6B97F7}"/>
                </a:ext>
              </a:extLst>
            </p:cNvPr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E06F147-6945-801A-D214-05AAE0CBDAE9}"/>
                </a:ext>
              </a:extLst>
            </p:cNvPr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9610C241-7023-F02A-1A7E-BC26C2DA4D51}"/>
              </a:ext>
            </a:extLst>
          </p:cNvPr>
          <p:cNvSpPr/>
          <p:nvPr/>
        </p:nvSpPr>
        <p:spPr>
          <a:xfrm>
            <a:off x="-2669630" y="61722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31E6B29A-0831-B213-0949-1A413D8FA215}"/>
              </a:ext>
            </a:extLst>
          </p:cNvPr>
          <p:cNvGrpSpPr/>
          <p:nvPr/>
        </p:nvGrpSpPr>
        <p:grpSpPr>
          <a:xfrm>
            <a:off x="1371600" y="2613400"/>
            <a:ext cx="15887700" cy="5916762"/>
            <a:chOff x="0" y="0"/>
            <a:chExt cx="2790081" cy="77829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250CEBB-6F34-7FDB-49B2-75B9F698FF3B}"/>
                </a:ext>
              </a:extLst>
            </p:cNvPr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92C68FB-7AE5-AEC4-CD1B-6B8BC05DD255}"/>
                </a:ext>
              </a:extLst>
            </p:cNvPr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C1EB8ECD-3618-0EED-1C3F-747438D6623B}"/>
              </a:ext>
            </a:extLst>
          </p:cNvPr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387D6F7-978A-610B-A43E-700D81C2B8AD}"/>
              </a:ext>
            </a:extLst>
          </p:cNvPr>
          <p:cNvSpPr/>
          <p:nvPr/>
        </p:nvSpPr>
        <p:spPr>
          <a:xfrm>
            <a:off x="15040677" y="3425466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DB80FED-35BD-5BEC-D249-04BC401FB2C1}"/>
              </a:ext>
            </a:extLst>
          </p:cNvPr>
          <p:cNvSpPr/>
          <p:nvPr/>
        </p:nvSpPr>
        <p:spPr>
          <a:xfrm>
            <a:off x="-2669630" y="1623504"/>
            <a:ext cx="5916762" cy="5916762"/>
          </a:xfrm>
          <a:custGeom>
            <a:avLst/>
            <a:gdLst/>
            <a:ahLst/>
            <a:cxnLst/>
            <a:rect l="l" t="t" r="r" b="b"/>
            <a:pathLst>
              <a:path w="5916762" h="5916762">
                <a:moveTo>
                  <a:pt x="0" y="0"/>
                </a:moveTo>
                <a:lnTo>
                  <a:pt x="5916761" y="0"/>
                </a:lnTo>
                <a:lnTo>
                  <a:pt x="5916761" y="5916762"/>
                </a:lnTo>
                <a:lnTo>
                  <a:pt x="0" y="59167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2F0A511-1AEE-EF90-56B8-BDAE37C3EB18}"/>
              </a:ext>
            </a:extLst>
          </p:cNvPr>
          <p:cNvSpPr txBox="1"/>
          <p:nvPr/>
        </p:nvSpPr>
        <p:spPr>
          <a:xfrm>
            <a:off x="1752600" y="566100"/>
            <a:ext cx="133350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8424"/>
              </a:lnSpc>
            </a:pPr>
            <a:r>
              <a:rPr lang="en-US" sz="7200" spc="-100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Conclusion &amp; Future Roadmap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750E7AB-F488-8B2A-DCB9-9A8A2EDA07EE}"/>
              </a:ext>
            </a:extLst>
          </p:cNvPr>
          <p:cNvSpPr txBox="1"/>
          <p:nvPr/>
        </p:nvSpPr>
        <p:spPr>
          <a:xfrm>
            <a:off x="1828800" y="3101389"/>
            <a:ext cx="14782800" cy="5209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Model Tuning: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Explore hyperparameter search (</a:t>
            </a:r>
            <a:r>
              <a:rPr lang="en-US" sz="2400" dirty="0" err="1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GridSearchCV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, Bayesian optimization) for Random Forest, </a:t>
            </a:r>
            <a:r>
              <a:rPr lang="en-US" sz="2400" dirty="0" err="1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, or refine your NN architecture.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Interpretability: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Tools like SHAP, LIME to see how each feature or transaction detail influences individual churn predictions.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Production Integration: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Automated daily scoring on the CRM.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Real-time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alerts to the marketing team for at-risk “Gold”/“Champion” customers.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Beyond Churn: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Potential for sentiment analysis of reviews, cross-category bundling, real-time product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864563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C8FC8-0528-F3F7-90B2-A9363360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5E4F820-BFFC-ADB2-6774-9B69600383DF}"/>
              </a:ext>
            </a:extLst>
          </p:cNvPr>
          <p:cNvSpPr/>
          <p:nvPr/>
        </p:nvSpPr>
        <p:spPr>
          <a:xfrm>
            <a:off x="13144500" y="-160861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D5C188B-0A48-0AEB-4A72-A3A6ADA5DD09}"/>
              </a:ext>
            </a:extLst>
          </p:cNvPr>
          <p:cNvGrpSpPr/>
          <p:nvPr/>
        </p:nvGrpSpPr>
        <p:grpSpPr>
          <a:xfrm>
            <a:off x="1066800" y="495300"/>
            <a:ext cx="16306800" cy="2209800"/>
            <a:chOff x="0" y="0"/>
            <a:chExt cx="2790081" cy="101645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1B7F67E-39F9-220C-4656-EB883D4A195E}"/>
                </a:ext>
              </a:extLst>
            </p:cNvPr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12E4424-B0D5-A010-8439-1A1F9D8F5436}"/>
                </a:ext>
              </a:extLst>
            </p:cNvPr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39B8D7C0-6ED6-B58D-C813-B5810F29D139}"/>
              </a:ext>
            </a:extLst>
          </p:cNvPr>
          <p:cNvSpPr/>
          <p:nvPr/>
        </p:nvSpPr>
        <p:spPr>
          <a:xfrm>
            <a:off x="-2669630" y="61722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EA6608F3-A9CD-846F-E0F4-556A75094ED1}"/>
              </a:ext>
            </a:extLst>
          </p:cNvPr>
          <p:cNvGrpSpPr/>
          <p:nvPr/>
        </p:nvGrpSpPr>
        <p:grpSpPr>
          <a:xfrm>
            <a:off x="1371600" y="2952766"/>
            <a:ext cx="15887700" cy="5577396"/>
            <a:chOff x="0" y="0"/>
            <a:chExt cx="2790081" cy="77829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7880A75-FDFF-6A31-5443-0F6B7DDD9ECA}"/>
                </a:ext>
              </a:extLst>
            </p:cNvPr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D106796-5DB2-ABAB-2FAE-0B886084E239}"/>
                </a:ext>
              </a:extLst>
            </p:cNvPr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EBBBC98A-2327-A14B-1D13-818F3F766C5D}"/>
              </a:ext>
            </a:extLst>
          </p:cNvPr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CD55C2F-C76A-6979-FEF4-84420D3B7EF4}"/>
              </a:ext>
            </a:extLst>
          </p:cNvPr>
          <p:cNvSpPr/>
          <p:nvPr/>
        </p:nvSpPr>
        <p:spPr>
          <a:xfrm>
            <a:off x="15040677" y="3425466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03B993A-772A-C477-8A07-9EB7549DB578}"/>
              </a:ext>
            </a:extLst>
          </p:cNvPr>
          <p:cNvSpPr/>
          <p:nvPr/>
        </p:nvSpPr>
        <p:spPr>
          <a:xfrm>
            <a:off x="-2669630" y="1623504"/>
            <a:ext cx="5916762" cy="5916762"/>
          </a:xfrm>
          <a:custGeom>
            <a:avLst/>
            <a:gdLst/>
            <a:ahLst/>
            <a:cxnLst/>
            <a:rect l="l" t="t" r="r" b="b"/>
            <a:pathLst>
              <a:path w="5916762" h="5916762">
                <a:moveTo>
                  <a:pt x="0" y="0"/>
                </a:moveTo>
                <a:lnTo>
                  <a:pt x="5916761" y="0"/>
                </a:lnTo>
                <a:lnTo>
                  <a:pt x="5916761" y="5916762"/>
                </a:lnTo>
                <a:lnTo>
                  <a:pt x="0" y="59167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33E55F8-86A3-1604-073F-97075F760D7C}"/>
              </a:ext>
            </a:extLst>
          </p:cNvPr>
          <p:cNvSpPr txBox="1"/>
          <p:nvPr/>
        </p:nvSpPr>
        <p:spPr>
          <a:xfrm>
            <a:off x="3820433" y="566100"/>
            <a:ext cx="9585350" cy="2141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424"/>
              </a:lnSpc>
            </a:pPr>
            <a:r>
              <a:rPr lang="en-US" sz="7200" spc="-100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Q&amp;A &amp; Acknowledgments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835FD77-CCB4-F3D9-BEF3-3D13AC208162}"/>
              </a:ext>
            </a:extLst>
          </p:cNvPr>
          <p:cNvSpPr txBox="1"/>
          <p:nvPr/>
        </p:nvSpPr>
        <p:spPr>
          <a:xfrm>
            <a:off x="2286001" y="3572793"/>
            <a:ext cx="14782800" cy="849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 Invite  any questions about data cleaning, methodology, the segmentation logic, or model results.</a:t>
            </a:r>
          </a:p>
        </p:txBody>
      </p:sp>
    </p:spTree>
    <p:extLst>
      <p:ext uri="{BB962C8B-B14F-4D97-AF65-F5344CB8AC3E}">
        <p14:creationId xmlns:p14="http://schemas.microsoft.com/office/powerpoint/2010/main" val="1835204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86038" y="3127625"/>
            <a:ext cx="12715924" cy="2740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45"/>
              </a:lnSpc>
            </a:pPr>
            <a:r>
              <a:rPr lang="en-US" sz="9184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THANK YOU</a:t>
            </a:r>
          </a:p>
          <a:p>
            <a:pPr marL="0" lvl="1" indent="0" algn="ctr">
              <a:lnSpc>
                <a:spcPts val="10745"/>
              </a:lnSpc>
            </a:pPr>
            <a:r>
              <a:rPr lang="en-US" sz="9184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 MUCH!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54248" y="1519892"/>
            <a:ext cx="9179504" cy="297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60"/>
              </a:lnSpc>
            </a:pPr>
            <a:r>
              <a:rPr lang="en-US" sz="2400" spc="-11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Presented by Moses Yebei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1511</Words>
  <Application>Microsoft Office PowerPoint</Application>
  <PresentationFormat>Custom</PresentationFormat>
  <Paragraphs>161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Wingdings</vt:lpstr>
      <vt:lpstr>Helvetica World</vt:lpstr>
      <vt:lpstr>Poppins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Moses Yebei</cp:lastModifiedBy>
  <cp:revision>4</cp:revision>
  <dcterms:created xsi:type="dcterms:W3CDTF">2006-08-16T00:00:00Z</dcterms:created>
  <dcterms:modified xsi:type="dcterms:W3CDTF">2025-01-09T16:20:04Z</dcterms:modified>
  <dc:identifier>DAGbsetISJ0</dc:identifier>
</cp:coreProperties>
</file>